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会社紹介" id="{a94837d2-48b2-7a35-52b1-4d6558b794cc}">
          <p14:sldIdLst>
            <p14:sldId id="256"/>
            <p14:sldId id="257"/>
            <p14:sldId id="258"/>
          </p14:sldIdLst>
        </p14:section>
        <p14:section name="経営体制" id="{e034cf7f-1d49-c28a-f89b-2acf9afa95db}">
          <p14:sldIdLst>
            <p14:sldId id="259"/>
            <p14:sldId id="260"/>
          </p14:sldIdLst>
        </p14:section>
        <p14:section name="事業と実績" id="{78ce81ab-ee2c-7713-b58e-47963cb55a86}">
          <p14:sldIdLst>
            <p14:sldId id="261"/>
            <p14:sldId id="262"/>
            <p14:sldId id="263"/>
            <p14:sldId id="264"/>
            <p14:sldId id="265"/>
          </p14:sldIdLst>
        </p14:section>
        <p14:section name="M&amp;A" id="{1bb0e7cc-62b7-eb52-fcce-91fac53fb58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HPフッターの会社情報と、本資料内の出来事をまとめた沿革。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HPのメンバー紹介（代表）。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HPのメンバー紹介（役員）。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HPのConceptセクションをもとにした会社の考え方と目標。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HPのヒーローとPortfolioの数字。金額は非公表のため記載しない。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HPのGroupセクション。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HPのPortfolioセクション。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事例ページ（cases/teshikaga.html）の要約。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M&amp;Aページの要約。投資条件などの詳細は記載しない。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Shape 0"/>
          <p:cNvSpPr/>
          <p:nvPr/>
        </p:nvSpPr>
        <p:spPr>
          <a:xfrm>
            <a:off x="457200" y="86868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4" name="Image 0" descr="/tmp/claude-0/-home-user-desktop-tutorial/da594ce8-4d76-57ae-96d9-d86383369921/scratchpad/deck/img/te-logo-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3688" y="365760"/>
            <a:ext cx="2798064" cy="329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Team Energy株式会社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411480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Copyright © Team Energy Co., Ltd. All rights reserved.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背景面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chemeClr val="bg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3" name="ロゴ（大）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3248" y="2547268"/>
            <a:ext cx="3108960" cy="1763464"/>
          </a:xfrm>
          <a:prstGeom prst="rect">
            <a:avLst/>
          </a:prstGeom>
        </p:spPr>
      </p:pic>
      <p:pic>
        <p:nvPicPr>
          <p:cNvPr id="4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828800" cy="1037332"/>
          </a:xfrm>
          <a:prstGeom prst="rect">
            <a:avLst/>
          </a:prstGeom>
        </p:spPr>
      </p:pic>
      <p:sp>
        <p:nvSpPr>
          <p:cNvPr id="5" name="タイトル"/>
          <p:cNvSpPr txBox="1"/>
          <p:nvPr/>
        </p:nvSpPr>
        <p:spPr>
          <a:xfrm>
            <a:off x="731520" y="269748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会社紹介資料</a:t>
            </a:r>
            <a:endParaRPr lang="en-US" sz="4000" dirty="0"/>
          </a:p>
        </p:txBody>
      </p:sp>
      <p:sp>
        <p:nvSpPr>
          <p:cNvPr id="6" name="英題"/>
          <p:cNvSpPr txBox="1"/>
          <p:nvPr/>
        </p:nvSpPr>
        <p:spPr>
          <a:xfrm>
            <a:off x="731520" y="3611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31520" y="4206240"/>
            <a:ext cx="1097280" cy="0"/>
          </a:xfrm>
          <a:prstGeom prst="line">
            <a:avLst/>
          </a:prstGeom>
          <a:noFill/>
          <a:ln w="19050">
            <a:solidFill>
              <a:srgbClr val="C8431C"/>
            </a:solidFill>
            <a:prstDash val="solid"/>
          </a:ln>
        </p:spPr>
      </p:sp>
      <p:sp>
        <p:nvSpPr>
          <p:cNvPr id="8" name="社名"/>
          <p:cNvSpPr txBox="1"/>
          <p:nvPr/>
        </p:nvSpPr>
        <p:spPr>
          <a:xfrm>
            <a:off x="731520" y="4389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Team Energy株式会社</a:t>
            </a:r>
            <a:endParaRPr lang="en-US" sz="2000" dirty="0"/>
          </a:p>
        </p:txBody>
      </p:sp>
      <p:sp>
        <p:nvSpPr>
          <p:cNvPr id="9" name="日付"/>
          <p:cNvSpPr txBox="1"/>
          <p:nvPr/>
        </p:nvSpPr>
        <p:spPr>
          <a:xfrm>
            <a:off x="731520" y="4892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2026年10月</a:t>
            </a:r>
            <a:endParaRPr lang="en-US" sz="1200" dirty="0"/>
          </a:p>
        </p:txBody>
      </p:sp>
      <p:sp>
        <p:nvSpPr>
          <p:cNvPr id="10" name="住所"/>
          <p:cNvSpPr txBox="1"/>
          <p:nvPr/>
        </p:nvSpPr>
        <p:spPr>
          <a:xfrm>
            <a:off x="73152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〒530-0011 大阪府大阪市北区大深町6 グラングリーン大阪北館 JAM BASE 9階 916号室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目次</a:t>
            </a:r>
            <a:endParaRPr lang="en-US" sz="2200" dirty="0"/>
          </a:p>
        </p:txBody>
      </p:sp>
      <p:sp>
        <p:nvSpPr>
          <p:cNvPr id="3" name="番号 1"/>
          <p:cNvSpPr txBox="1"/>
          <p:nvPr/>
        </p:nvSpPr>
        <p:spPr>
          <a:xfrm>
            <a:off x="914400" y="1371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4" name="項目 1"/>
          <p:cNvSpPr txBox="1"/>
          <p:nvPr/>
        </p:nvSpPr>
        <p:spPr>
          <a:xfrm>
            <a:off x="1737360" y="1399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会社概要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057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番号 2"/>
          <p:cNvSpPr txBox="1"/>
          <p:nvPr/>
        </p:nvSpPr>
        <p:spPr>
          <a:xfrm>
            <a:off x="914400" y="2514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項目 2"/>
          <p:cNvSpPr txBox="1"/>
          <p:nvPr/>
        </p:nvSpPr>
        <p:spPr>
          <a:xfrm>
            <a:off x="1737360" y="2542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経営体制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200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番号 3"/>
          <p:cNvSpPr txBox="1"/>
          <p:nvPr/>
        </p:nvSpPr>
        <p:spPr>
          <a:xfrm>
            <a:off x="914400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10" name="項目 3"/>
          <p:cNvSpPr txBox="1"/>
          <p:nvPr/>
        </p:nvSpPr>
        <p:spPr>
          <a:xfrm>
            <a:off x="1737360" y="3685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私たちについて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343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番号 4"/>
          <p:cNvSpPr txBox="1"/>
          <p:nvPr/>
        </p:nvSpPr>
        <p:spPr>
          <a:xfrm>
            <a:off x="914400" y="4800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13" name="項目 4"/>
          <p:cNvSpPr txBox="1"/>
          <p:nvPr/>
        </p:nvSpPr>
        <p:spPr>
          <a:xfrm>
            <a:off x="1737360" y="4828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数字で見る Team Energy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5486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番号 5"/>
          <p:cNvSpPr txBox="1"/>
          <p:nvPr/>
        </p:nvSpPr>
        <p:spPr>
          <a:xfrm>
            <a:off x="6675120" y="1371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16" name="項目 5"/>
          <p:cNvSpPr txBox="1"/>
          <p:nvPr/>
        </p:nvSpPr>
        <p:spPr>
          <a:xfrm>
            <a:off x="7498080" y="1399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グループ構成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675120" y="2057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番号 6"/>
          <p:cNvSpPr txBox="1"/>
          <p:nvPr/>
        </p:nvSpPr>
        <p:spPr>
          <a:xfrm>
            <a:off x="6675120" y="2514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19" name="項目 6"/>
          <p:cNvSpPr txBox="1"/>
          <p:nvPr/>
        </p:nvSpPr>
        <p:spPr>
          <a:xfrm>
            <a:off x="7498080" y="2542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主な投資先・実績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675120" y="3200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番号 7"/>
          <p:cNvSpPr txBox="1"/>
          <p:nvPr/>
        </p:nvSpPr>
        <p:spPr>
          <a:xfrm>
            <a:off x="6675120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22" name="項目 7"/>
          <p:cNvSpPr txBox="1"/>
          <p:nvPr/>
        </p:nvSpPr>
        <p:spPr>
          <a:xfrm>
            <a:off x="7498080" y="3685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事例紹介：弟子屈チャレンジ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675120" y="4343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番号 8"/>
          <p:cNvSpPr txBox="1"/>
          <p:nvPr/>
        </p:nvSpPr>
        <p:spPr>
          <a:xfrm>
            <a:off x="6675120" y="4800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08</a:t>
            </a:r>
            <a:endParaRPr lang="en-US" sz="2200" dirty="0"/>
          </a:p>
        </p:txBody>
      </p:sp>
      <p:sp>
        <p:nvSpPr>
          <p:cNvPr id="25" name="項目 8"/>
          <p:cNvSpPr txBox="1"/>
          <p:nvPr/>
        </p:nvSpPr>
        <p:spPr>
          <a:xfrm>
            <a:off x="7498080" y="48280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M&amp;A・事業承継について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675120" y="5486400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会社概要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94360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Team Energy株式会社（総称：Team Energy Group）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2012年5月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代表取締役 グループCEO　中村 誠司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〒530-0011 大阪府大阪市北区大深町6 グラングリーン大阪北館 JAM BASE 9階 916号室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東京オフィス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〒160-0014 東京都新宿区内藤町1-82 プルニエ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事業内容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事業育成・新規事業創出を軸に、複数事業をグループ各社にて展開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グループ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6つの事業領域（GI／Geo／AI総研／GLI／Growth／AM）、18社の事業会社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6228" y="1097280"/>
            <a:ext cx="1828800" cy="1037332"/>
          </a:xfrm>
          <a:prstGeom prst="rect">
            <a:avLst/>
          </a:prstGeom>
        </p:spPr>
      </p:pic>
      <p:sp>
        <p:nvSpPr>
          <p:cNvPr id="5" name="小見出し 沿革"/>
          <p:cNvSpPr txBox="1"/>
          <p:nvPr/>
        </p:nvSpPr>
        <p:spPr>
          <a:xfrm>
            <a:off x="8366760" y="237744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沿革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743200"/>
          <a:ext cx="3367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6189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2012年5月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Team Energy株式会社を設立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ふるさと熱電株式会社を設立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株式会社GeoDreamsを設立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弟子屈チャレンジ株式会社を設立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2023年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株式会社バイウィルを設立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2024年4月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レジル株式会社が東証グロース上場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2025年7月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NUPPUKOTTE として再出発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2025年8月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ふるさと熱電株式会社を売却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経営体制：代表</a:t>
            </a:r>
            <a:endParaRPr lang="en-US" sz="2200" dirty="0"/>
          </a:p>
        </p:txBody>
      </p:sp>
      <p:pic>
        <p:nvPicPr>
          <p:cNvPr id="3" name="中村 誠司の写真" descr="/tmp/claude-0/-home-user-desktop-tutorial/da594ce8-4d76-57ae-96d9-d86383369921/scratchpad/deck/img/ceo-nakamu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657600" cy="2411307"/>
          </a:xfrm>
          <a:prstGeom prst="rect">
            <a:avLst/>
          </a:prstGeom>
        </p:spPr>
      </p:pic>
      <p:sp>
        <p:nvSpPr>
          <p:cNvPr id="4" name="役職"/>
          <p:cNvSpPr txBox="1"/>
          <p:nvPr/>
        </p:nvSpPr>
        <p:spPr>
          <a:xfrm>
            <a:off x="457200" y="3618315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代表取締役 グループCEO</a:t>
            </a:r>
            <a:endParaRPr lang="en-US" sz="1050" dirty="0"/>
          </a:p>
        </p:txBody>
      </p:sp>
      <p:sp>
        <p:nvSpPr>
          <p:cNvPr id="5" name="氏名"/>
          <p:cNvSpPr txBox="1"/>
          <p:nvPr/>
        </p:nvSpPr>
        <p:spPr>
          <a:xfrm>
            <a:off x="457200" y="3892635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中村 誠司</a:t>
            </a:r>
            <a:endParaRPr lang="en-US" sz="2000" dirty="0"/>
          </a:p>
        </p:txBody>
      </p:sp>
      <p:sp>
        <p:nvSpPr>
          <p:cNvPr id="6" name="小見出し 主な実績"/>
          <p:cNvSpPr txBox="1"/>
          <p:nvPr/>
        </p:nvSpPr>
        <p:spPr>
          <a:xfrm>
            <a:off x="457200" y="448699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主な実績</a:t>
            </a:r>
            <a:endParaRPr lang="en-US" sz="1400" dirty="0"/>
          </a:p>
        </p:txBody>
      </p:sp>
      <p:sp>
        <p:nvSpPr>
          <p:cNvPr id="7" name="実績"/>
          <p:cNvSpPr txBox="1"/>
          <p:nvPr/>
        </p:nvSpPr>
        <p:spPr>
          <a:xfrm>
            <a:off x="457200" y="4825323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レジル：2024年上場、ベインキャピタルへ売却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ふるさと熱電：2025年8月、ベースロードキャピタルへ売却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GeoDreams：2022年設立、八雲町で地熱開発を推進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BY WILL：2023年設立、約30億円を調達</a:t>
            </a:r>
            <a:endParaRPr lang="en-US" sz="1000" dirty="0"/>
          </a:p>
        </p:txBody>
      </p:sp>
      <p:sp>
        <p:nvSpPr>
          <p:cNvPr id="8" name="小見出し プロフィール"/>
          <p:cNvSpPr txBox="1"/>
          <p:nvPr/>
        </p:nvSpPr>
        <p:spPr>
          <a:xfrm>
            <a:off x="48463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プロフィール</a:t>
            </a:r>
            <a:endParaRPr lang="en-US" sz="1400" dirty="0"/>
          </a:p>
        </p:txBody>
      </p:sp>
      <p:sp>
        <p:nvSpPr>
          <p:cNvPr id="9" name="略歴"/>
          <p:cNvSpPr txBox="1"/>
          <p:nvPr/>
        </p:nvSpPr>
        <p:spPr>
          <a:xfrm>
            <a:off x="4846320" y="1463040"/>
            <a:ext cx="68881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省エネ事業で株式会社メリックスを創業後、2004年に中央電力株式会社を設立。2012年にTeam Energy株式会社を設立。経営歴34年で58社を設立し、その多くを統合・廃止。失敗した会社の数は経営者仲間の中でも「自称トップ」。その一方で、企業価値100億円を超える企業を4社創出し、レジル（旧 中央電力）を上場・売却まで導く。</a:t>
            </a:r>
            <a:endParaRPr lang="en-US" sz="1200" dirty="0"/>
          </a:p>
        </p:txBody>
      </p:sp>
      <p:sp>
        <p:nvSpPr>
          <p:cNvPr id="10" name="小見出し 経歴"/>
          <p:cNvSpPr txBox="1"/>
          <p:nvPr/>
        </p:nvSpPr>
        <p:spPr>
          <a:xfrm>
            <a:off x="484632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3383280"/>
          <a:ext cx="688817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608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1993年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省エネに関わる事業を開始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1994年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省エネ事業で株式会社メリックスを創業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2004年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中央電力株式会社を設立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Team Energy株式会社を設立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ふるさと熱電株式会社を設立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2024年4月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中央電力）が東証グロース市場に上場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経営体制：役員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095848" y="1097280"/>
            <a:ext cx="0" cy="50292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4" name="服部 浩久の写真" descr="/tmp/claude-0/-home-user-desktop-tutorial/da594ce8-4d76-57ae-96d9-d86383369921/scratchpad/deck/img/coo-hatto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1920240" cy="1920240"/>
          </a:xfrm>
          <a:prstGeom prst="rect">
            <a:avLst/>
          </a:prstGeom>
        </p:spPr>
      </p:pic>
      <p:sp>
        <p:nvSpPr>
          <p:cNvPr id="5" name="役職 服部 浩久"/>
          <p:cNvSpPr txBox="1"/>
          <p:nvPr/>
        </p:nvSpPr>
        <p:spPr>
          <a:xfrm>
            <a:off x="26060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グループ最高執行責任者（COO）</a:t>
            </a:r>
            <a:endParaRPr lang="en-US" sz="1100" dirty="0"/>
          </a:p>
        </p:txBody>
      </p:sp>
      <p:sp>
        <p:nvSpPr>
          <p:cNvPr id="6" name="氏名 服部 浩久"/>
          <p:cNvSpPr txBox="1"/>
          <p:nvPr/>
        </p:nvSpPr>
        <p:spPr>
          <a:xfrm>
            <a:off x="260604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服部 浩久</a:t>
            </a:r>
            <a:endParaRPr lang="en-US" sz="2200" dirty="0"/>
          </a:p>
        </p:txBody>
      </p:sp>
      <p:sp>
        <p:nvSpPr>
          <p:cNvPr id="7" name="出身 服部 浩久"/>
          <p:cNvSpPr txBox="1"/>
          <p:nvPr/>
        </p:nvSpPr>
        <p:spPr>
          <a:xfrm>
            <a:off x="2606040" y="2148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京都大学卒</a:t>
            </a:r>
            <a:endParaRPr lang="en-US" sz="1100" dirty="0"/>
          </a:p>
        </p:txBody>
      </p:sp>
      <p:sp>
        <p:nvSpPr>
          <p:cNvPr id="8" name="小見出し 経歴"/>
          <p:cNvSpPr txBox="1"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5394960" cy="914400"/>
        </p:xfrm>
        <a:graphic>
          <a:graphicData uri="http://schemas.openxmlformats.org/drawingml/2006/table">
            <a:tbl>
              <a:tblPr/>
              <a:tblGrid>
                <a:gridCol w="5394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USEN 常務取締役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住信SBIネット銀行 執行役員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日本航空との合弁会社 代表取締役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　Team Energy グループ最高執行責任者（COO）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杉野 輝也の写真枠"/>
          <p:cNvSpPr/>
          <p:nvPr/>
        </p:nvSpPr>
        <p:spPr>
          <a:xfrm>
            <a:off x="6309360" y="1097280"/>
            <a:ext cx="1920240" cy="1920240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" name="役職 杉野 輝也"/>
          <p:cNvSpPr txBox="1"/>
          <p:nvPr/>
        </p:nvSpPr>
        <p:spPr>
          <a:xfrm>
            <a:off x="84582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グループ最高財務責任者（CFO）</a:t>
            </a:r>
            <a:endParaRPr lang="en-US" sz="1100" dirty="0"/>
          </a:p>
        </p:txBody>
      </p:sp>
      <p:sp>
        <p:nvSpPr>
          <p:cNvPr id="12" name="氏名 杉野 輝也"/>
          <p:cNvSpPr txBox="1"/>
          <p:nvPr/>
        </p:nvSpPr>
        <p:spPr>
          <a:xfrm>
            <a:off x="845820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杉野 輝也</a:t>
            </a:r>
            <a:endParaRPr lang="en-US" sz="2200" dirty="0"/>
          </a:p>
        </p:txBody>
      </p:sp>
      <p:sp>
        <p:nvSpPr>
          <p:cNvPr id="13" name="出身 杉野 輝也"/>
          <p:cNvSpPr txBox="1"/>
          <p:nvPr/>
        </p:nvSpPr>
        <p:spPr>
          <a:xfrm>
            <a:off x="8458200" y="2148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東京大学卒</a:t>
            </a:r>
            <a:endParaRPr lang="en-US" sz="1100" dirty="0"/>
          </a:p>
        </p:txBody>
      </p:sp>
      <p:sp>
        <p:nvSpPr>
          <p:cNvPr id="14" name="小見出し 経歴"/>
          <p:cNvSpPr txBox="1"/>
          <p:nvPr/>
        </p:nvSpPr>
        <p:spPr>
          <a:xfrm>
            <a:off x="630936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657600"/>
          <a:ext cx="5394960" cy="914400"/>
        </p:xfrm>
        <a:graphic>
          <a:graphicData uri="http://schemas.openxmlformats.org/drawingml/2006/table">
            <a:tbl>
              <a:tblPr/>
              <a:tblGrid>
                <a:gridCol w="5394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住友銀行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大和証券SMBC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SMBC日興証券 執行役員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三井住友フィナンシャルグループ 執行役員 グループ副CRO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　Team Energy グループ最高財務責任者（CFO）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私たちについて</a:t>
            </a:r>
            <a:endParaRPr lang="en-US" sz="2200" dirty="0"/>
          </a:p>
        </p:txBody>
      </p:sp>
      <p:sp>
        <p:nvSpPr>
          <p:cNvPr id="3" name="小見出し 事業創造グループとしての考え方"/>
          <p:cNvSpPr txBox="1"/>
          <p:nvPr/>
        </p:nvSpPr>
        <p:spPr>
          <a:xfrm>
            <a:off x="457200" y="1097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事業創造グループとしての考え方</a:t>
            </a:r>
            <a:endParaRPr lang="en-US" sz="1400" dirty="0"/>
          </a:p>
        </p:txBody>
      </p:sp>
      <p:sp>
        <p:nvSpPr>
          <p:cNvPr id="4" name="宣言文"/>
          <p:cNvSpPr txBox="1"/>
          <p:nvPr/>
        </p:nvSpPr>
        <p:spPr>
          <a:xfrm>
            <a:off x="457200" y="15087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私たちは、会社の数を増やすために会社をつくるのではない。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これからの社会に本当に必要とされる事業を見つけ、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その可能性に人生を懸ける経営者とともに、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100億、そしてユニコーンへと育てていく。</a:t>
            </a:r>
            <a:endParaRPr lang="en-US" sz="1450" dirty="0"/>
          </a:p>
        </p:txBody>
      </p:sp>
      <p:sp>
        <p:nvSpPr>
          <p:cNvPr id="5" name="説明"/>
          <p:cNvSpPr txBox="1"/>
          <p:nvPr/>
        </p:nvSpPr>
        <p:spPr>
          <a:xfrm>
            <a:off x="457200" y="33832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Team Energyは、社会を変える企業を、経営者とともに生み出し続ける事業創造グループです。出資と経営を切り離さず、投資先の経営に自ら入り、意思決定から実行までを自社で完結させます。</a:t>
            </a:r>
            <a:endParaRPr lang="en-US" sz="1200" dirty="0"/>
          </a:p>
        </p:txBody>
      </p:sp>
      <p:sp>
        <p:nvSpPr>
          <p:cNvPr id="6" name="小見出し 私たちのやり方"/>
          <p:cNvSpPr txBox="1"/>
          <p:nvPr/>
        </p:nvSpPr>
        <p:spPr>
          <a:xfrm>
            <a:off x="7315200" y="109728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私たちのやり方</a:t>
            </a:r>
            <a:endParaRPr lang="en-US" sz="1400" dirty="0"/>
          </a:p>
        </p:txBody>
      </p:sp>
      <p:sp>
        <p:nvSpPr>
          <p:cNvPr id="7" name="ステップ 1"/>
          <p:cNvSpPr/>
          <p:nvPr/>
        </p:nvSpPr>
        <p:spPr>
          <a:xfrm>
            <a:off x="7315200" y="1508760"/>
            <a:ext cx="4419295" cy="786384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" name="ステップ番号 1"/>
          <p:cNvSpPr txBox="1"/>
          <p:nvPr/>
        </p:nvSpPr>
        <p:spPr>
          <a:xfrm>
            <a:off x="749808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ステップ名 1"/>
          <p:cNvSpPr txBox="1"/>
          <p:nvPr/>
        </p:nvSpPr>
        <p:spPr>
          <a:xfrm>
            <a:off x="8001000" y="162763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事業を生む</a:t>
            </a:r>
            <a:endParaRPr lang="en-US" sz="1300" dirty="0"/>
          </a:p>
        </p:txBody>
      </p:sp>
      <p:sp>
        <p:nvSpPr>
          <p:cNvPr id="10" name="ステップ説明 1"/>
          <p:cNvSpPr txBox="1"/>
          <p:nvPr/>
        </p:nvSpPr>
        <p:spPr>
          <a:xfrm>
            <a:off x="8001000" y="192938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これからの社会に必要とされる事業を見つける</a:t>
            </a:r>
            <a:endParaRPr lang="en-US" sz="1050" dirty="0"/>
          </a:p>
        </p:txBody>
      </p:sp>
      <p:sp>
        <p:nvSpPr>
          <p:cNvPr id="11" name="矢印 1"/>
          <p:cNvSpPr/>
          <p:nvPr/>
        </p:nvSpPr>
        <p:spPr>
          <a:xfrm>
            <a:off x="9415120" y="2331720"/>
            <a:ext cx="219456" cy="201168"/>
          </a:xfrm>
          <a:prstGeom prst="downArrow">
            <a:avLst/>
          </a:prstGeom>
          <a:solidFill>
            <a:schemeClr val="accent5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ステップ 2"/>
          <p:cNvSpPr/>
          <p:nvPr/>
        </p:nvSpPr>
        <p:spPr>
          <a:xfrm>
            <a:off x="7315200" y="2560320"/>
            <a:ext cx="4419295" cy="786384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" name="ステップ番号 2"/>
          <p:cNvSpPr txBox="1"/>
          <p:nvPr/>
        </p:nvSpPr>
        <p:spPr>
          <a:xfrm>
            <a:off x="74980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ステップ名 2"/>
          <p:cNvSpPr txBox="1"/>
          <p:nvPr/>
        </p:nvSpPr>
        <p:spPr>
          <a:xfrm>
            <a:off x="8001000" y="26791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資本を投じる</a:t>
            </a:r>
            <a:endParaRPr lang="en-US" sz="1300" dirty="0"/>
          </a:p>
        </p:txBody>
      </p:sp>
      <p:sp>
        <p:nvSpPr>
          <p:cNvPr id="15" name="ステップ説明 2"/>
          <p:cNvSpPr txBox="1"/>
          <p:nvPr/>
        </p:nvSpPr>
        <p:spPr>
          <a:xfrm>
            <a:off x="8001000" y="298094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出資と経営を切り離さず、投資先の経営に自ら入る</a:t>
            </a:r>
            <a:endParaRPr lang="en-US" sz="1050" dirty="0"/>
          </a:p>
        </p:txBody>
      </p:sp>
      <p:sp>
        <p:nvSpPr>
          <p:cNvPr id="16" name="矢印 2"/>
          <p:cNvSpPr/>
          <p:nvPr/>
        </p:nvSpPr>
        <p:spPr>
          <a:xfrm>
            <a:off x="9415120" y="3383280"/>
            <a:ext cx="219456" cy="201168"/>
          </a:xfrm>
          <a:prstGeom prst="downArrow">
            <a:avLst/>
          </a:prstGeom>
          <a:solidFill>
            <a:schemeClr val="accent5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ステップ 3"/>
          <p:cNvSpPr/>
          <p:nvPr/>
        </p:nvSpPr>
        <p:spPr>
          <a:xfrm>
            <a:off x="7315200" y="3611880"/>
            <a:ext cx="4419295" cy="786384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ステップ番号 3"/>
          <p:cNvSpPr txBox="1"/>
          <p:nvPr/>
        </p:nvSpPr>
        <p:spPr>
          <a:xfrm>
            <a:off x="749808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ステップ名 3"/>
          <p:cNvSpPr txBox="1"/>
          <p:nvPr/>
        </p:nvSpPr>
        <p:spPr>
          <a:xfrm>
            <a:off x="8001000" y="373075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経営者とともに育てる</a:t>
            </a:r>
            <a:endParaRPr lang="en-US" sz="1300" dirty="0"/>
          </a:p>
        </p:txBody>
      </p:sp>
      <p:sp>
        <p:nvSpPr>
          <p:cNvPr id="20" name="ステップ説明 3"/>
          <p:cNvSpPr txBox="1"/>
          <p:nvPr/>
        </p:nvSpPr>
        <p:spPr>
          <a:xfrm>
            <a:off x="8001000" y="40325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100億企業へ、そしてユニコーンへ</a:t>
            </a:r>
            <a:endParaRPr lang="en-US" sz="1050" dirty="0"/>
          </a:p>
        </p:txBody>
      </p:sp>
      <p:sp>
        <p:nvSpPr>
          <p:cNvPr id="21" name="目標枠"/>
          <p:cNvSpPr/>
          <p:nvPr/>
        </p:nvSpPr>
        <p:spPr>
          <a:xfrm>
            <a:off x="457200" y="4846320"/>
            <a:ext cx="11277295" cy="1143000"/>
          </a:xfrm>
          <a:prstGeom prst="rect">
            <a:avLst/>
          </a:prstGeom>
          <a:solidFill>
            <a:schemeClr val="bg1"/>
          </a:solidFill>
          <a:ln w="12700">
            <a:solidFill>
              <a:srgbClr val="C8431C"/>
            </a:solidFill>
            <a:prstDash val="solid"/>
          </a:ln>
        </p:spPr>
      </p:sp>
      <p:sp>
        <p:nvSpPr>
          <p:cNvPr id="22" name="目標ラベル"/>
          <p:cNvSpPr txBox="1"/>
          <p:nvPr/>
        </p:nvSpPr>
        <p:spPr>
          <a:xfrm>
            <a:off x="731520" y="49834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目標</a:t>
            </a:r>
            <a:endParaRPr lang="en-US" sz="1200" dirty="0"/>
          </a:p>
        </p:txBody>
      </p:sp>
      <p:sp>
        <p:nvSpPr>
          <p:cNvPr id="23" name="目標本文"/>
          <p:cNvSpPr txBox="1"/>
          <p:nvPr/>
        </p:nvSpPr>
        <p:spPr>
          <a:xfrm>
            <a:off x="731520" y="53218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100億企業を10社。その先に、ユニコーン3社を。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数字で見る Team Energy</a:t>
            </a:r>
            <a:endParaRPr lang="en-US" sz="2200" dirty="0"/>
          </a:p>
        </p:txBody>
      </p:sp>
      <p:sp>
        <p:nvSpPr>
          <p:cNvPr id="3" name="数字 100億円企業"/>
          <p:cNvSpPr txBox="1"/>
          <p:nvPr/>
        </p:nvSpPr>
        <p:spPr>
          <a:xfrm>
            <a:off x="457200" y="1234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4" name="ラベル 100億円企業"/>
          <p:cNvSpPr txBox="1"/>
          <p:nvPr/>
        </p:nvSpPr>
        <p:spPr>
          <a:xfrm>
            <a:off x="457200" y="2148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100億円企業</a:t>
            </a:r>
            <a:endParaRPr lang="en-US" sz="1400" dirty="0"/>
          </a:p>
        </p:txBody>
      </p:sp>
      <p:sp>
        <p:nvSpPr>
          <p:cNvPr id="5" name="補足 100億円企業"/>
          <p:cNvSpPr txBox="1"/>
          <p:nvPr/>
        </p:nvSpPr>
        <p:spPr>
          <a:xfrm>
            <a:off x="45720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企業価値100億円を超える企業を創出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163824" y="1234440"/>
            <a:ext cx="0" cy="18288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数字 上場・売却によるEXIT"/>
          <p:cNvSpPr txBox="1"/>
          <p:nvPr/>
        </p:nvSpPr>
        <p:spPr>
          <a:xfrm>
            <a:off x="3273552" y="1234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8" name="ラベル 上場・売却によるEXIT"/>
          <p:cNvSpPr txBox="1"/>
          <p:nvPr/>
        </p:nvSpPr>
        <p:spPr>
          <a:xfrm>
            <a:off x="3273552" y="2148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上場・売却によるEXIT</a:t>
            </a:r>
            <a:endParaRPr lang="en-US" sz="1400" dirty="0"/>
          </a:p>
        </p:txBody>
      </p:sp>
      <p:sp>
        <p:nvSpPr>
          <p:cNvPr id="9" name="補足 上場・売却によるEXIT"/>
          <p:cNvSpPr txBox="1"/>
          <p:nvPr/>
        </p:nvSpPr>
        <p:spPr>
          <a:xfrm>
            <a:off x="3273552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レジル、ふるさと熱電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0176" y="1234440"/>
            <a:ext cx="0" cy="18288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1" name="数字 グループの事業会社"/>
          <p:cNvSpPr txBox="1"/>
          <p:nvPr/>
        </p:nvSpPr>
        <p:spPr>
          <a:xfrm>
            <a:off x="6089904" y="1234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18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12" name="ラベル グループの事業会社"/>
          <p:cNvSpPr txBox="1"/>
          <p:nvPr/>
        </p:nvSpPr>
        <p:spPr>
          <a:xfrm>
            <a:off x="6089904" y="2148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グループの事業会社</a:t>
            </a:r>
            <a:endParaRPr lang="en-US" sz="1400" dirty="0"/>
          </a:p>
        </p:txBody>
      </p:sp>
      <p:sp>
        <p:nvSpPr>
          <p:cNvPr id="13" name="補足 グループの事業会社"/>
          <p:cNvSpPr txBox="1"/>
          <p:nvPr/>
        </p:nvSpPr>
        <p:spPr>
          <a:xfrm>
            <a:off x="6089904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6つの事業領域に展開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796528" y="1234440"/>
            <a:ext cx="0" cy="18288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数字 100億企業の目標"/>
          <p:cNvSpPr txBox="1"/>
          <p:nvPr/>
        </p:nvSpPr>
        <p:spPr>
          <a:xfrm>
            <a:off x="8906256" y="1234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16" name="ラベル 100億企業の目標"/>
          <p:cNvSpPr txBox="1"/>
          <p:nvPr/>
        </p:nvSpPr>
        <p:spPr>
          <a:xfrm>
            <a:off x="8906256" y="2148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100億企業の目標</a:t>
            </a:r>
            <a:endParaRPr lang="en-US" sz="1400" dirty="0"/>
          </a:p>
        </p:txBody>
      </p:sp>
      <p:sp>
        <p:nvSpPr>
          <p:cNvPr id="17" name="補足 100億企業の目標"/>
          <p:cNvSpPr txBox="1"/>
          <p:nvPr/>
        </p:nvSpPr>
        <p:spPr>
          <a:xfrm>
            <a:off x="8906256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その先に、ユニコーン3社</a:t>
            </a:r>
            <a:endParaRPr lang="en-US" sz="1050" dirty="0"/>
          </a:p>
        </p:txBody>
      </p:sp>
      <p:sp>
        <p:nvSpPr>
          <p:cNvPr id="18" name="小見出し EXIT実績"/>
          <p:cNvSpPr txBox="1"/>
          <p:nvPr/>
        </p:nvSpPr>
        <p:spPr>
          <a:xfrm>
            <a:off x="457200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EXIT実績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94360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東証グロース市場に上場。その後、ベインキャピタルへ売却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2024年4月 上場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ベースロードキャピタルへ売却。現在はベースロードジャパンが運営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2025年8月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一言枠"/>
          <p:cNvSpPr/>
          <p:nvPr/>
        </p:nvSpPr>
        <p:spPr>
          <a:xfrm>
            <a:off x="457200" y="5394960"/>
            <a:ext cx="11277295" cy="685800"/>
          </a:xfrm>
          <a:prstGeom prst="rect">
            <a:avLst/>
          </a:prstGeom>
          <a:solidFill>
            <a:schemeClr val="bg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1" name="一言"/>
          <p:cNvSpPr txBox="1"/>
          <p:nvPr/>
        </p:nvSpPr>
        <p:spPr>
          <a:xfrm>
            <a:off x="731520" y="53949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ユニコーン企業を3社創出するために、100億円企業を創り続けます。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グループ構成</a:t>
            </a:r>
            <a:endParaRPr lang="en-US" sz="2200" dirty="0"/>
          </a:p>
        </p:txBody>
      </p:sp>
      <p:sp>
        <p:nvSpPr>
          <p:cNvPr id="3" name="説明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Team Energy株式会社を中心に、6つの事業領域（中間持株会社）の下で18社の事業会社を運営しています。</a:t>
            </a:r>
            <a:endParaRPr lang="en-US" sz="1200" dirty="0"/>
          </a:p>
        </p:txBody>
      </p:sp>
      <p:sp>
        <p:nvSpPr>
          <p:cNvPr id="4" name="親会社"/>
          <p:cNvSpPr/>
          <p:nvPr/>
        </p:nvSpPr>
        <p:spPr>
          <a:xfrm>
            <a:off x="457200" y="1508760"/>
            <a:ext cx="3931920" cy="53035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1A1412"/>
            </a:solidFill>
            <a:prstDash val="solid"/>
          </a:ln>
        </p:spPr>
      </p:sp>
      <p:sp>
        <p:nvSpPr>
          <p:cNvPr id="5" name="親会社名"/>
          <p:cNvSpPr txBox="1"/>
          <p:nvPr/>
        </p:nvSpPr>
        <p:spPr>
          <a:xfrm>
            <a:off x="640080" y="150876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Team Energy株式会社</a:t>
            </a:r>
            <a:endParaRPr lang="en-US" sz="1300" dirty="0"/>
          </a:p>
        </p:txBody>
      </p:sp>
      <p:sp>
        <p:nvSpPr>
          <p:cNvPr id="6" name="列見出し1"/>
          <p:cNvSpPr txBox="1"/>
          <p:nvPr/>
        </p:nvSpPr>
        <p:spPr>
          <a:xfrm>
            <a:off x="118872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事業領域（中間持株会社）</a:t>
            </a:r>
            <a:endParaRPr lang="en-US" sz="1000" dirty="0"/>
          </a:p>
        </p:txBody>
      </p:sp>
      <p:sp>
        <p:nvSpPr>
          <p:cNvPr id="7" name="列見出し2"/>
          <p:cNvSpPr txBox="1"/>
          <p:nvPr/>
        </p:nvSpPr>
        <p:spPr>
          <a:xfrm>
            <a:off x="5212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傘下の事業会社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39112"/>
            <a:ext cx="0" cy="3904488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74320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0" name="領域 te-gi.png"/>
          <p:cNvSpPr/>
          <p:nvPr/>
        </p:nvSpPr>
        <p:spPr>
          <a:xfrm>
            <a:off x="1280160" y="246888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1" name="ロゴ te-gi.png" descr="/tmp/claude-0/-home-user-desktop-tutorial/da594ce8-4d76-57ae-96d9-d86383369921/scratchpad/deck/img/te-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615184"/>
            <a:ext cx="2340864" cy="256032"/>
          </a:xfrm>
          <a:prstGeom prst="rect">
            <a:avLst/>
          </a:prstGeom>
        </p:spPr>
      </p:pic>
      <p:sp>
        <p:nvSpPr>
          <p:cNvPr id="12" name="傘下 te-gi.png"/>
          <p:cNvSpPr txBox="1"/>
          <p:nvPr/>
        </p:nvSpPr>
        <p:spPr>
          <a:xfrm>
            <a:off x="5212080" y="24688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株式会社バイウィル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212080" y="306324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338328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5" name="領域 te-geo.png"/>
          <p:cNvSpPr/>
          <p:nvPr/>
        </p:nvSpPr>
        <p:spPr>
          <a:xfrm>
            <a:off x="1280160" y="310896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ロゴ te-geo.png" descr="/tmp/claude-0/-home-user-desktop-tutorial/da594ce8-4d76-57ae-96d9-d86383369921/scratchpad/deck/img/te-g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55264"/>
            <a:ext cx="2670048" cy="256032"/>
          </a:xfrm>
          <a:prstGeom prst="rect">
            <a:avLst/>
          </a:prstGeom>
        </p:spPr>
      </p:pic>
      <p:sp>
        <p:nvSpPr>
          <p:cNvPr id="17" name="傘下 te-geo.png"/>
          <p:cNvSpPr txBox="1"/>
          <p:nvPr/>
        </p:nvSpPr>
        <p:spPr>
          <a:xfrm>
            <a:off x="5212080" y="31089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株式会社GeoDreams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212080" y="370332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402336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20" name="領域 te-ai.png"/>
          <p:cNvSpPr/>
          <p:nvPr/>
        </p:nvSpPr>
        <p:spPr>
          <a:xfrm>
            <a:off x="1280160" y="374904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1" name="ロゴ te-ai.png" descr="/tmp/claude-0/-home-user-desktop-tutorial/da594ce8-4d76-57ae-96d9-d86383369921/scratchpad/deck/img/te-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895344"/>
            <a:ext cx="2831413" cy="256032"/>
          </a:xfrm>
          <a:prstGeom prst="rect">
            <a:avLst/>
          </a:prstGeom>
        </p:spPr>
      </p:pic>
      <p:sp>
        <p:nvSpPr>
          <p:cNvPr id="22" name="傘下 te-ai.png"/>
          <p:cNvSpPr txBox="1"/>
          <p:nvPr/>
        </p:nvSpPr>
        <p:spPr>
          <a:xfrm>
            <a:off x="5212080" y="37490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株式会社キャナルAI、株式会社スケールエーアイ、MIRACRE AI株式会社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212080" y="434340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2960" y="466344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25" name="領域 te-gli.png"/>
          <p:cNvSpPr/>
          <p:nvPr/>
        </p:nvSpPr>
        <p:spPr>
          <a:xfrm>
            <a:off x="1280160" y="438912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6" name="ロゴ te-gli.png" descr="/tmp/claude-0/-home-user-desktop-tutorial/da594ce8-4d76-57ae-96d9-d86383369921/scratchpad/deck/img/te-g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4535424"/>
            <a:ext cx="2465222" cy="256032"/>
          </a:xfrm>
          <a:prstGeom prst="rect">
            <a:avLst/>
          </a:prstGeom>
        </p:spPr>
      </p:pic>
      <p:sp>
        <p:nvSpPr>
          <p:cNvPr id="27" name="傘下 te-gli.png"/>
          <p:cNvSpPr txBox="1"/>
          <p:nvPr/>
        </p:nvSpPr>
        <p:spPr>
          <a:xfrm>
            <a:off x="5212080" y="438912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Team Glocal株式会社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212080" y="498348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22960" y="530352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30" name="領域 te-growth.png"/>
          <p:cNvSpPr/>
          <p:nvPr/>
        </p:nvSpPr>
        <p:spPr>
          <a:xfrm>
            <a:off x="1280160" y="502920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31" name="ロゴ te-growth.png" descr="/tmp/claude-0/-home-user-desktop-tutorial/da594ce8-4d76-57ae-96d9-d86383369921/scratchpad/deck/img/te-growt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5175504"/>
            <a:ext cx="3138221" cy="256032"/>
          </a:xfrm>
          <a:prstGeom prst="rect">
            <a:avLst/>
          </a:prstGeom>
        </p:spPr>
      </p:pic>
      <p:sp>
        <p:nvSpPr>
          <p:cNvPr id="32" name="傘下 te-growth.png"/>
          <p:cNvSpPr txBox="1"/>
          <p:nvPr/>
        </p:nvSpPr>
        <p:spPr>
          <a:xfrm>
            <a:off x="5212080" y="50292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株式会社AILE、株式会社ANY、弟子屈チャレンジ株式会社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212080" y="562356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2960" y="594360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35" name="領域 te-am.png"/>
          <p:cNvSpPr/>
          <p:nvPr/>
        </p:nvSpPr>
        <p:spPr>
          <a:xfrm>
            <a:off x="1280160" y="5669280"/>
            <a:ext cx="3749040" cy="548640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36" name="ロゴ te-am.png" descr="/tmp/claude-0/-home-user-desktop-tutorial/da594ce8-4d76-57ae-96d9-d86383369921/scratchpad/deck/img/te-a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5815584"/>
            <a:ext cx="2545259" cy="256032"/>
          </a:xfrm>
          <a:prstGeom prst="rect">
            <a:avLst/>
          </a:prstGeom>
        </p:spPr>
      </p:pic>
      <p:sp>
        <p:nvSpPr>
          <p:cNvPr id="37" name="傘下 te-am.png"/>
          <p:cNvSpPr txBox="1"/>
          <p:nvPr/>
        </p:nvSpPr>
        <p:spPr>
          <a:xfrm>
            <a:off x="5212080" y="56692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アセットマネジメント事業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主な投資先・実績</a:t>
            </a:r>
            <a:endParaRPr lang="en-US" sz="2200" dirty="0"/>
          </a:p>
        </p:txBody>
      </p:sp>
      <p:sp>
        <p:nvSpPr>
          <p:cNvPr id="3" name="説明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これまでに企業価値100億円を超える企業を4社創出し、うち2社は上場・売却によるEXITに至っています。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772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480560"/>
                <a:gridCol w="3227832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事業内容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地域と共生する地熱発電所の運営。日本初のSPCモデルでの地熱発電所を開設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EXIT　2025年8月、ベースロードキャピタルへ売却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2004年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マンション一括受電のパイオニア。電力コスト削減と快適な住環境を提供し、エネルギーDX事業も展開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EXIT　2024年4月 東証グロース上場。その後、ベインキャピタルへ売却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株式会社バイウィル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2023年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第一地銀45行・基礎自治体60以上と連携した環境クレジット創出事業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未上場　シリーズA・Bラウンドで累計約30億円を調達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株式会社GeoDreams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次世代型地熱発電「クローズドループ」の開発。掘削・探査・メンテナンスを一貫して担う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未上場　JOGMEC 次世代地熱発電のFS調査に採択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注記"/>
          <p:cNvSpPr txBox="1"/>
          <p:nvPr/>
        </p:nvSpPr>
        <p:spPr>
          <a:xfrm>
            <a:off x="45720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 各社の企業価値・売却金額は非公表です。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事例紹介：弟子屈チャレンジ株式会社</a:t>
            </a:r>
            <a:endParaRPr lang="en-US" sz="2200" dirty="0"/>
          </a:p>
        </p:txBody>
      </p:sp>
      <p:pic>
        <p:nvPicPr>
          <p:cNvPr id="3" name="摩周湖の写真" descr="/tmp/claude-0/-home-user-desktop-tutorial/da594ce8-4d76-57ae-96d9-d86383369921/scratchpad/deck/img/teshikaga-mash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657600" cy="2151888"/>
          </a:xfrm>
          <a:prstGeom prst="rect">
            <a:avLst/>
          </a:prstGeom>
        </p:spPr>
      </p:pic>
      <p:sp>
        <p:nvSpPr>
          <p:cNvPr id="4" name="写真キャプション1"/>
          <p:cNvSpPr txBox="1"/>
          <p:nvPr/>
        </p:nvSpPr>
        <p:spPr>
          <a:xfrm>
            <a:off x="457200" y="32857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摩周湖（北海道弟子屈町）</a:t>
            </a:r>
            <a:endParaRPr lang="en-US" sz="900" dirty="0"/>
          </a:p>
        </p:txBody>
      </p:sp>
      <p:pic>
        <p:nvPicPr>
          <p:cNvPr id="5" name="客室の写真" descr="/tmp/claude-0/-home-user-desktop-tutorial/da594ce8-4d76-57ae-96d9-d86383369921/scratchpad/deck/img/teshikaga-room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41776"/>
            <a:ext cx="3657600" cy="2444496"/>
          </a:xfrm>
          <a:prstGeom prst="rect">
            <a:avLst/>
          </a:prstGeom>
        </p:spPr>
      </p:pic>
      <p:sp>
        <p:nvSpPr>
          <p:cNvPr id="6" name="写真キャプション2"/>
          <p:cNvSpPr txBox="1"/>
          <p:nvPr/>
        </p:nvSpPr>
        <p:spPr>
          <a:xfrm>
            <a:off x="457200" y="6022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Nature Base Hotel NUPPUKOTTE 客室</a:t>
            </a:r>
            <a:endParaRPr lang="en-US" sz="900" dirty="0"/>
          </a:p>
        </p:txBody>
      </p:sp>
      <p:sp>
        <p:nvSpPr>
          <p:cNvPr id="7" name="リード"/>
          <p:cNvSpPr txBox="1"/>
          <p:nvPr/>
        </p:nvSpPr>
        <p:spPr>
          <a:xfrm>
            <a:off x="4526280" y="1097280"/>
            <a:ext cx="7208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摩周湖に最も近いホテルを、地域の環境文化拠点へ。</a:t>
            </a:r>
            <a:endParaRPr lang="en-US" sz="1500" dirty="0"/>
          </a:p>
        </p:txBody>
      </p:sp>
      <p:sp>
        <p:nvSpPr>
          <p:cNvPr id="8" name="概要"/>
          <p:cNvSpPr txBox="1"/>
          <p:nvPr/>
        </p:nvSpPr>
        <p:spPr>
          <a:xfrm>
            <a:off x="4526280" y="1508760"/>
            <a:ext cx="7208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Nature Base Hotel NUPPUKOTTE（旧 レラ摩周）。2022年に取得したホテルを、2025年7月に全室スイートの環境文化拠点としてリニューアルしました。</a:t>
            </a:r>
            <a:endParaRPr lang="en-US" sz="1150" dirty="0"/>
          </a:p>
        </p:txBody>
      </p:sp>
      <p:sp>
        <p:nvSpPr>
          <p:cNvPr id="9" name="小見出し 経緯"/>
          <p:cNvSpPr txBox="1"/>
          <p:nvPr/>
        </p:nvSpPr>
        <p:spPr>
          <a:xfrm>
            <a:off x="4526280" y="2148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経緯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2514600"/>
          <a:ext cx="72082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0194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ホテルを取得。弟子屈チャレンジ株式会社を設立し、「レラ摩周」として再開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2023年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通年営業へ。運営体制をゼロから作り直す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2025年5月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全面改装に着手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2025年7月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Nature Base Hotel NUPPUKOTTE として再出発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小見出し 取り組み"/>
          <p:cNvSpPr txBox="1"/>
          <p:nvPr/>
        </p:nvSpPr>
        <p:spPr>
          <a:xfrm>
            <a:off x="452628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取り組み</a:t>
            </a:r>
            <a:endParaRPr lang="en-US" sz="1400" dirty="0"/>
          </a:p>
        </p:txBody>
      </p:sp>
      <p:sp>
        <p:nvSpPr>
          <p:cNvPr id="12" name="取り組み"/>
          <p:cNvSpPr txBox="1"/>
          <p:nvPr/>
        </p:nvSpPr>
        <p:spPr>
          <a:xfrm>
            <a:off x="4526280" y="4526280"/>
            <a:ext cx="7208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経営人材を送り込み、コンセプトを立て直す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摩周鹿の料理など、食で差をつける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法人合宿・団体ツアー・インバウンドなど法人・団体需要を開拓する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地域と組み、ホテルの先に地域開発を見る</a:t>
            </a:r>
            <a:endParaRPr lang="en-US" sz="1150" dirty="0"/>
          </a:p>
        </p:txBody>
      </p:sp>
      <p:sp>
        <p:nvSpPr>
          <p:cNvPr id="13" name="施設"/>
          <p:cNvSpPr txBox="1"/>
          <p:nvPr/>
        </p:nvSpPr>
        <p:spPr>
          <a:xfrm>
            <a:off x="4526280" y="5806440"/>
            <a:ext cx="7208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施設：全7室スイート（46〜99㎡）／最大23名／レストラン24席／ラウンジ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M&amp;A・事業承継について</a:t>
            </a:r>
            <a:endParaRPr lang="en-US" sz="2200" dirty="0"/>
          </a:p>
        </p:txBody>
      </p:sp>
      <p:sp>
        <p:nvSpPr>
          <p:cNvPr id="3" name="リード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Team Energy Groupに参加する企業を、お待ちしています。</a:t>
            </a:r>
            <a:endParaRPr lang="en-US" sz="1600" dirty="0"/>
          </a:p>
        </p:txBody>
      </p:sp>
      <p:sp>
        <p:nvSpPr>
          <p:cNvPr id="4" name="説明"/>
          <p:cNvSpPr txBox="1"/>
          <p:nvPr/>
        </p:nvSpPr>
        <p:spPr>
          <a:xfrm>
            <a:off x="457200" y="15544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事業承継や資本提携のご提案を、仲介会社・金融機関・オーナー経営者の皆さまからお受けしています。グループの資金と経営人材で、承継後の事業を次の成長へ導きます。</a:t>
            </a:r>
            <a:endParaRPr lang="en-US" sz="1150" dirty="0"/>
          </a:p>
        </p:txBody>
      </p:sp>
      <p:sp>
        <p:nvSpPr>
          <p:cNvPr id="5" name="小見出し グループへの参加について"/>
          <p:cNvSpPr txBox="1"/>
          <p:nvPr/>
        </p:nvSpPr>
        <p:spPr>
          <a:xfrm>
            <a:off x="457200" y="2377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グループへの参加について</a:t>
            </a:r>
            <a:endParaRPr lang="en-US" sz="1400" dirty="0"/>
          </a:p>
        </p:txBody>
      </p:sp>
      <p:sp>
        <p:nvSpPr>
          <p:cNvPr id="6" name="番号 1"/>
          <p:cNvSpPr txBox="1"/>
          <p:nvPr/>
        </p:nvSpPr>
        <p:spPr>
          <a:xfrm>
            <a:off x="45720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見出し 1"/>
          <p:cNvSpPr txBox="1"/>
          <p:nvPr/>
        </p:nvSpPr>
        <p:spPr>
          <a:xfrm>
            <a:off x="960120" y="280720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業種・エリアを問わず、ご提案をお受けします</a:t>
            </a:r>
            <a:endParaRPr lang="en-US" sz="1300" dirty="0"/>
          </a:p>
        </p:txBody>
      </p:sp>
      <p:sp>
        <p:nvSpPr>
          <p:cNvPr id="8" name="本文 1"/>
          <p:cNvSpPr txBox="1"/>
          <p:nvPr/>
        </p:nvSpPr>
        <p:spPr>
          <a:xfrm>
            <a:off x="960120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エネルギー、シニア、地域サービスなど、これまでの投資領域に限らず検討します。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6583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0" name="番号 2"/>
          <p:cNvSpPr txBox="1"/>
          <p:nvPr/>
        </p:nvSpPr>
        <p:spPr>
          <a:xfrm>
            <a:off x="457200" y="3886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見出し 2"/>
          <p:cNvSpPr txBox="1"/>
          <p:nvPr/>
        </p:nvSpPr>
        <p:spPr>
          <a:xfrm>
            <a:off x="960120" y="390448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承継後に誰が経営するかを、先に示します</a:t>
            </a:r>
            <a:endParaRPr lang="en-US" sz="1300" dirty="0"/>
          </a:p>
        </p:txBody>
      </p:sp>
      <p:sp>
        <p:nvSpPr>
          <p:cNvPr id="12" name="本文 2"/>
          <p:cNvSpPr txBox="1"/>
          <p:nvPr/>
        </p:nvSpPr>
        <p:spPr>
          <a:xfrm>
            <a:off x="960120" y="4251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グループで育てた経営人材と、上場・売却・再生を実務で経験した役員が経営に入ります。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64608"/>
            <a:ext cx="6583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番号 3"/>
          <p:cNvSpPr txBox="1"/>
          <p:nvPr/>
        </p:nvSpPr>
        <p:spPr>
          <a:xfrm>
            <a:off x="457200" y="4983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見出し 3"/>
          <p:cNvSpPr txBox="1"/>
          <p:nvPr/>
        </p:nvSpPr>
        <p:spPr>
          <a:xfrm>
            <a:off x="960120" y="500176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雇用と取引先との関係を大切にします</a:t>
            </a:r>
            <a:endParaRPr lang="en-US" sz="1300" dirty="0"/>
          </a:p>
        </p:txBody>
      </p:sp>
      <p:sp>
        <p:nvSpPr>
          <p:cNvPr id="16" name="本文 3"/>
          <p:cNvSpPr txBox="1"/>
          <p:nvPr/>
        </p:nvSpPr>
        <p:spPr>
          <a:xfrm>
            <a:off x="960120" y="53492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従業員の雇用と取引先との関係は維持を基本とし、現場の理解を得ながら段階的に事業を伸ばします。</a:t>
            </a:r>
            <a:endParaRPr lang="en-US" sz="1100" dirty="0"/>
          </a:p>
        </p:txBody>
      </p:sp>
      <p:sp>
        <p:nvSpPr>
          <p:cNvPr id="17" name="小見出し 承継事例"/>
          <p:cNvSpPr txBox="1"/>
          <p:nvPr/>
        </p:nvSpPr>
        <p:spPr>
          <a:xfrm>
            <a:off x="7589520" y="237744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承継事例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743200"/>
          <a:ext cx="41449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391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障害福祉・介護予防サービス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 約3.4億円／7拠点／従業員 約50名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売り手の「事業の選択と集中」により、当該事業のみを事業譲渡で承継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従業員の雇用と処遇の維持を最重視。許認可の新規取得と契約の承継を完了し、地域の福祉サービスを継続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窓口枠"/>
          <p:cNvSpPr/>
          <p:nvPr/>
        </p:nvSpPr>
        <p:spPr>
          <a:xfrm>
            <a:off x="7589520" y="5074920"/>
            <a:ext cx="4144975" cy="1005840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窓口ラベル"/>
          <p:cNvSpPr txBox="1"/>
          <p:nvPr/>
        </p:nvSpPr>
        <p:spPr>
          <a:xfrm>
            <a:off x="7772400" y="516636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お問い合わせ窓口</a:t>
            </a:r>
            <a:endParaRPr lang="en-US" sz="1050" dirty="0"/>
          </a:p>
        </p:txBody>
      </p:sp>
      <p:sp>
        <p:nvSpPr>
          <p:cNvPr id="21" name="窓口メール"/>
          <p:cNvSpPr txBox="1"/>
          <p:nvPr/>
        </p:nvSpPr>
        <p:spPr>
          <a:xfrm>
            <a:off x="7772400" y="544068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sourcing@teamenergy.co.jp（担当：友井 大勢）</a:t>
            </a:r>
            <a:endParaRPr lang="en-US" sz="1100" dirty="0"/>
          </a:p>
        </p:txBody>
      </p:sp>
      <p:sp>
        <p:nvSpPr>
          <p:cNvPr id="22" name="窓口説明"/>
          <p:cNvSpPr txBox="1"/>
          <p:nvPr/>
        </p:nvSpPr>
        <p:spPr>
          <a:xfrm>
            <a:off x="7772400" y="571500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仲介会社・金融機関・オーナー経営者の皆さまからお受けしています。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7128" y="1554480"/>
            <a:ext cx="2377440" cy="1348531"/>
          </a:xfrm>
          <a:prstGeom prst="rect">
            <a:avLst/>
          </a:prstGeom>
        </p:spPr>
      </p:pic>
      <p:sp>
        <p:nvSpPr>
          <p:cNvPr id="3" name="社名"/>
          <p:cNvSpPr txBox="1"/>
          <p:nvPr/>
        </p:nvSpPr>
        <p:spPr>
          <a:xfrm>
            <a:off x="0" y="3246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Team Energy株式会社</a:t>
            </a:r>
            <a:endParaRPr lang="en-US" sz="1800" dirty="0"/>
          </a:p>
        </p:txBody>
      </p:sp>
      <p:sp>
        <p:nvSpPr>
          <p:cNvPr id="4" name="連絡先"/>
          <p:cNvSpPr txBox="1"/>
          <p:nvPr/>
        </p:nvSpPr>
        <p:spPr>
          <a:xfrm>
            <a:off x="0" y="384048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本社　〒530-0011 大阪府大阪市北区大深町6 グラングリーン大阪北館 JAM BASE 9階 916号室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東京オフィス　〒160-0014 東京都新宿区内藤町1-82 プルニエ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M&amp;A・事業承継に関するお問い合わせ　sourcing@teamenergy.co.jp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Energy">
  <a:themeElements>
    <a:clrScheme name="Team Energy">
      <a:dk1>
        <a:srgbClr val="222222"/>
      </a:dk1>
      <a:lt1>
        <a:srgbClr val="FFFFFF"/>
      </a:lt1>
      <a:dk2>
        <a:srgbClr val="666666"/>
      </a:dk2>
      <a:lt2>
        <a:srgbClr val="F2F2F2"/>
      </a:lt2>
      <a:accent1>
        <a:srgbClr val="C8431C"/>
      </a:accent1>
      <a:accent2>
        <a:srgbClr val="9E2F10"/>
      </a:accent2>
      <a:accent3>
        <a:srgbClr val="E8E2DA"/>
      </a:accent3>
      <a:accent4>
        <a:srgbClr val="999999"/>
      </a:accent4>
      <a:accent5>
        <a:srgbClr val="D9D9D9"/>
      </a:accent5>
      <a:accent6>
        <a:srgbClr val="1A1412"/>
      </a:accent6>
      <a:hlink>
        <a:srgbClr val="C8431C"/>
      </a:hlink>
      <a:folHlink>
        <a:srgbClr val="9E2F10"/>
      </a:folHlink>
    </a:clrScheme>
    <a:fontScheme name="Team Energy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Energy 会社紹介資料</dc:title>
  <dc:subject>PptxGenJS Presentation</dc:subject>
  <dc:creator>Team Energy株式会社</dc:creator>
  <cp:lastModifiedBy>Team Energy株式会社</cp:lastModifiedBy>
  <cp:revision>1</cp:revision>
  <dcterms:created xsi:type="dcterms:W3CDTF">2026-10-14T08:13:41Z</dcterms:created>
  <dcterms:modified xsi:type="dcterms:W3CDTF">2026-10-14T08:13:41Z</dcterms:modified>
</cp:coreProperties>
</file>