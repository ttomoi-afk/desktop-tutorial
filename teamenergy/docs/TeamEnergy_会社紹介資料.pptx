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ccf1ddb8-dd12-63aa-7041-ed2140c4a9c1}">
          <p14:sldIdLst>
            <p14:sldId id="256"/>
            <p14:sldId id="257"/>
            <p14:sldId id="258"/>
          </p14:sldIdLst>
        </p14:section>
        <p14:section name="グループと実績" id="{c28a1eef-72d8-987d-515e-27301d9acbdd}">
          <p14:sldIdLst>
            <p14:sldId id="259"/>
            <p14:sldId id="260"/>
            <p14:sldId id="261"/>
          </p14:sldIdLst>
        </p14:section>
        <p14:section name="経営体制" id="{3978f0ea-de2a-03d3-b25c-1fad161d1ccf}">
          <p14:sldIdLst>
            <p14:sldId id="262"/>
            <p14:sldId id="263"/>
          </p14:sldIdLst>
        </p14:section>
        <p14:section name="M&amp;A・会社概要" id="{eba6ecf2-e381-5971-a7de-36ff67ce32b2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EXIT済</c:v>
                </c:pt>
              </c:strCache>
            </c:strRef>
          </c:tx>
          <c:spPr>
            <a:solidFill>
              <a:srgbClr val="D246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ふるさと熱電</c:v>
                  </c:pt>
                  <c:pt idx="1">
                    <c:v>レジル</c:v>
                  </c:pt>
                  <c:pt idx="2">
                    <c:v>バイウィル</c:v>
                  </c:pt>
                  <c:pt idx="3">
                    <c:v>GeoDreams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182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未上場</c:v>
                </c:pt>
              </c:strCache>
            </c:strRef>
          </c:tx>
          <c:spPr>
            <a:solidFill>
              <a:srgbClr val="F0C4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ふるさと熱電</c:v>
                  </c:pt>
                  <c:pt idx="1">
                    <c:v>レジル</c:v>
                  </c:pt>
                  <c:pt idx="2">
                    <c:v>バイウィル</c:v>
                  </c:pt>
                  <c:pt idx="3">
                    <c:v>GeoDreams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40.2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DBD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4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4F4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表紙。HPのヒーローと同じキャッチコピーと、ポートフォリオの数字を抜粋。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HPのConceptセクション。宣言文と、100億企業10社・ユニコーン3社の目標。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ヒーローの数字の帯とPortfolioの数字。金額は非公表のため記載しない。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HPのGroupセクション。各領域のロゴと傘下各社。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HPのPortfolioセクション。グラフは相対的な規模のみ（金額は非表示）。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事例ページ（cases/teshikaga.html）の要約。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HPのメンバー紹介（代表）。略歴・年表・主な実績。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HPのメンバー紹介（役員）。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M&amp;Aページの要約。投資条件などの詳細は記載しない（MTG方針）。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HPフッターの会社情報。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Team Energy株式会社｜会社紹介資料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403">
              <a:alpha val="62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 Energy ロゴ" descr="/tmp/claude-0/-home-user-desktop-tutorial/da594ce8-4d76-57ae-96d9-d86383369921/scratchpad/deck/img/t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09344" cy="914400"/>
          </a:xfrm>
          <a:prstGeom prst="rect">
            <a:avLst/>
          </a:prstGeom>
        </p:spPr>
      </p:pic>
      <p:sp>
        <p:nvSpPr>
          <p:cNvPr id="3" name="キャッチコピー"/>
          <p:cNvSpPr txBox="1"/>
          <p:nvPr/>
        </p:nvSpPr>
        <p:spPr>
          <a:xfrm>
            <a:off x="548640" y="20574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社会に必要な会社をつくる。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その未来を託せる経営者とともに。</a:t>
            </a:r>
            <a:endParaRPr lang="en-US" sz="3800" dirty="0"/>
          </a:p>
        </p:txBody>
      </p:sp>
      <p:sp>
        <p:nvSpPr>
          <p:cNvPr id="4" name="サブコピー"/>
          <p:cNvSpPr txBox="1"/>
          <p:nvPr/>
        </p:nvSpPr>
        <p:spPr>
          <a:xfrm>
            <a:off x="548640" y="3977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事業を生み、資本を投じ、経営者とともに100億企業へ育てる。</a:t>
            </a:r>
            <a:endParaRPr lang="en-US" sz="1600" dirty="0"/>
          </a:p>
        </p:txBody>
      </p:sp>
      <p:sp>
        <p:nvSpPr>
          <p:cNvPr id="5" name="資料名"/>
          <p:cNvSpPr txBox="1"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</a:rPr>
              <a:t>Team Energy株式会社　会社紹介資料　2026年10月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1109441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数字 100億円企業"/>
          <p:cNvSpPr txBox="1"/>
          <p:nvPr/>
        </p:nvSpPr>
        <p:spPr>
          <a:xfrm>
            <a:off x="54864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社</a:t>
            </a:r>
            <a:endParaRPr lang="en-US" sz="1400" dirty="0"/>
          </a:p>
        </p:txBody>
      </p:sp>
      <p:sp>
        <p:nvSpPr>
          <p:cNvPr id="8" name="ラベル 100億円企業"/>
          <p:cNvSpPr txBox="1"/>
          <p:nvPr/>
        </p:nvSpPr>
        <p:spPr>
          <a:xfrm>
            <a:off x="548640" y="5943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>
                    <a:alpha val="75000"/>
                  </a:schemeClr>
                </a:solidFill>
              </a:rPr>
              <a:t>100億円企業</a:t>
            </a:r>
            <a:endParaRPr lang="en-US" sz="1100" dirty="0"/>
          </a:p>
        </p:txBody>
      </p:sp>
      <p:sp>
        <p:nvSpPr>
          <p:cNvPr id="9" name="数字 上場・売却によるEXIT"/>
          <p:cNvSpPr txBox="1"/>
          <p:nvPr/>
        </p:nvSpPr>
        <p:spPr>
          <a:xfrm>
            <a:off x="3319272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社</a:t>
            </a:r>
            <a:endParaRPr lang="en-US" sz="1400" dirty="0"/>
          </a:p>
        </p:txBody>
      </p:sp>
      <p:sp>
        <p:nvSpPr>
          <p:cNvPr id="10" name="ラベル 上場・売却によるEXIT"/>
          <p:cNvSpPr txBox="1"/>
          <p:nvPr/>
        </p:nvSpPr>
        <p:spPr>
          <a:xfrm>
            <a:off x="3319272" y="5943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>
                    <a:alpha val="75000"/>
                  </a:schemeClr>
                </a:solidFill>
              </a:rPr>
              <a:t>上場・売却によるEXIT</a:t>
            </a:r>
            <a:endParaRPr lang="en-US" sz="1100" dirty="0"/>
          </a:p>
        </p:txBody>
      </p:sp>
      <p:sp>
        <p:nvSpPr>
          <p:cNvPr id="11" name="数字 グループの事業会社"/>
          <p:cNvSpPr txBox="1"/>
          <p:nvPr/>
        </p:nvSpPr>
        <p:spPr>
          <a:xfrm>
            <a:off x="6089904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18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社</a:t>
            </a:r>
            <a:endParaRPr lang="en-US" sz="1400" dirty="0"/>
          </a:p>
        </p:txBody>
      </p:sp>
      <p:sp>
        <p:nvSpPr>
          <p:cNvPr id="12" name="ラベル グループの事業会社"/>
          <p:cNvSpPr txBox="1"/>
          <p:nvPr/>
        </p:nvSpPr>
        <p:spPr>
          <a:xfrm>
            <a:off x="6089904" y="5943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>
                    <a:alpha val="75000"/>
                  </a:schemeClr>
                </a:solidFill>
              </a:rPr>
              <a:t>グループの事業会社</a:t>
            </a:r>
            <a:endParaRPr lang="en-US" sz="1100" dirty="0"/>
          </a:p>
        </p:txBody>
      </p:sp>
      <p:sp>
        <p:nvSpPr>
          <p:cNvPr id="13" name="数字 事業領域"/>
          <p:cNvSpPr txBox="1"/>
          <p:nvPr/>
        </p:nvSpPr>
        <p:spPr>
          <a:xfrm>
            <a:off x="8860536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領域</a:t>
            </a:r>
            <a:endParaRPr lang="en-US" sz="1400" dirty="0"/>
          </a:p>
        </p:txBody>
      </p:sp>
      <p:sp>
        <p:nvSpPr>
          <p:cNvPr id="14" name="ラベル 事業領域"/>
          <p:cNvSpPr txBox="1"/>
          <p:nvPr/>
        </p:nvSpPr>
        <p:spPr>
          <a:xfrm>
            <a:off x="8860536" y="5943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>
                    <a:alpha val="75000"/>
                  </a:schemeClr>
                </a:solidFill>
              </a:rPr>
              <a:t>事業領域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CONCEPT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産業の主役になる会社を、つくる</a:t>
            </a:r>
            <a:endParaRPr lang="en-US" sz="2800" dirty="0"/>
          </a:p>
        </p:txBody>
      </p:sp>
      <p:sp>
        <p:nvSpPr>
          <p:cNvPr id="4" name="宣言文"/>
          <p:cNvSpPr txBox="1"/>
          <p:nvPr/>
        </p:nvSpPr>
        <p:spPr>
          <a:xfrm>
            <a:off x="548640" y="178308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私たちは、会社の数を増やすために会社をつくるのではない。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これからの社会に本当に必要とされる事業を見つけ、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その可能性に人生を懸ける経営者とともに、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100億、そしてユニコーンへと育てていく。</a:t>
            </a:r>
            <a:endParaRPr lang="en-US" sz="1800" dirty="0"/>
          </a:p>
        </p:txBody>
      </p:sp>
      <p:sp>
        <p:nvSpPr>
          <p:cNvPr id="5" name="説明文"/>
          <p:cNvSpPr txBox="1"/>
          <p:nvPr/>
        </p:nvSpPr>
        <p:spPr>
          <a:xfrm>
            <a:off x="548640" y="4617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Team Energyは、社会を変える企業を、経営者とともに生み出し続ける事業創造グループです。</a:t>
            </a:r>
            <a:endParaRPr lang="en-US" sz="1400" dirty="0"/>
          </a:p>
        </p:txBody>
      </p:sp>
      <p:sp>
        <p:nvSpPr>
          <p:cNvPr id="6" name="目標カード"/>
          <p:cNvSpPr/>
          <p:nvPr/>
        </p:nvSpPr>
        <p:spPr>
          <a:xfrm>
            <a:off x="7726680" y="1783080"/>
            <a:ext cx="3913632" cy="365760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70403"/>
            </a:solidFill>
            <a:prstDash val="solid"/>
          </a:ln>
        </p:spPr>
      </p:sp>
      <p:sp>
        <p:nvSpPr>
          <p:cNvPr id="7" name="目標ラベル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目標</a:t>
            </a:r>
            <a:endParaRPr lang="en-US" sz="1100" dirty="0"/>
          </a:p>
        </p:txBody>
      </p:sp>
      <p:sp>
        <p:nvSpPr>
          <p:cNvPr id="8" name="目標1"/>
          <p:cNvSpPr txBox="1"/>
          <p:nvPr/>
        </p:nvSpPr>
        <p:spPr>
          <a:xfrm>
            <a:off x="8092440" y="2514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100億企業を10社。</a:t>
            </a:r>
            <a:endParaRPr lang="en-US" sz="2600" dirty="0"/>
          </a:p>
        </p:txBody>
      </p:sp>
      <p:sp>
        <p:nvSpPr>
          <p:cNvPr id="9" name="目標2"/>
          <p:cNvSpPr txBox="1"/>
          <p:nvPr/>
        </p:nvSpPr>
        <p:spPr>
          <a:xfrm>
            <a:off x="809244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その先に、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ユニコーン3社を。</a:t>
            </a:r>
            <a:endParaRPr lang="en-US" sz="2600" dirty="0"/>
          </a:p>
        </p:txBody>
      </p:sp>
      <p:sp>
        <p:nvSpPr>
          <p:cNvPr id="10" name="一言"/>
          <p:cNvSpPr txBox="1"/>
          <p:nvPr/>
        </p:nvSpPr>
        <p:spPr>
          <a:xfrm>
            <a:off x="80924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出資と経営を切り離さない、事業投資会社。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数字で見る Team Energy</a:t>
            </a:r>
            <a:endParaRPr lang="en-US" sz="2800" dirty="0"/>
          </a:p>
        </p:txBody>
      </p:sp>
      <p:sp>
        <p:nvSpPr>
          <p:cNvPr id="4" name="カード 100億円企業"/>
          <p:cNvSpPr/>
          <p:nvPr/>
        </p:nvSpPr>
        <p:spPr>
          <a:xfrm>
            <a:off x="548640" y="1783080"/>
            <a:ext cx="2651760" cy="265176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5" name="数字 100億円企業"/>
          <p:cNvSpPr txBox="1"/>
          <p:nvPr/>
        </p:nvSpPr>
        <p:spPr>
          <a:xfrm>
            <a:off x="82296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</a:rPr>
              <a:t>4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社</a:t>
            </a:r>
            <a:endParaRPr lang="en-US" sz="1400" dirty="0"/>
          </a:p>
        </p:txBody>
      </p:sp>
      <p:sp>
        <p:nvSpPr>
          <p:cNvPr id="6" name="ラベル 100億円企業"/>
          <p:cNvSpPr txBox="1"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100億円企業</a:t>
            </a:r>
            <a:endParaRPr lang="en-US" sz="1500" dirty="0"/>
          </a:p>
        </p:txBody>
      </p:sp>
      <p:sp>
        <p:nvSpPr>
          <p:cNvPr id="7" name="補足 100億円企業"/>
          <p:cNvSpPr txBox="1"/>
          <p:nvPr/>
        </p:nvSpPr>
        <p:spPr>
          <a:xfrm>
            <a:off x="82296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企業価値100億円を超える企業を創出</a:t>
            </a:r>
            <a:endParaRPr lang="en-US" sz="1100" dirty="0"/>
          </a:p>
        </p:txBody>
      </p:sp>
      <p:sp>
        <p:nvSpPr>
          <p:cNvPr id="8" name="カード 上場・売却によるEXIT"/>
          <p:cNvSpPr/>
          <p:nvPr/>
        </p:nvSpPr>
        <p:spPr>
          <a:xfrm>
            <a:off x="3374136" y="1783080"/>
            <a:ext cx="2651760" cy="265176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9" name="数字 上場・売却によるEXIT"/>
          <p:cNvSpPr txBox="1"/>
          <p:nvPr/>
        </p:nvSpPr>
        <p:spPr>
          <a:xfrm>
            <a:off x="3648456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社</a:t>
            </a:r>
            <a:endParaRPr lang="en-US" sz="1400" dirty="0"/>
          </a:p>
        </p:txBody>
      </p:sp>
      <p:sp>
        <p:nvSpPr>
          <p:cNvPr id="10" name="ラベル 上場・売却によるEXIT"/>
          <p:cNvSpPr txBox="1"/>
          <p:nvPr/>
        </p:nvSpPr>
        <p:spPr>
          <a:xfrm>
            <a:off x="3648456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上場・売却によるEXIT</a:t>
            </a:r>
            <a:endParaRPr lang="en-US" sz="1500" dirty="0"/>
          </a:p>
        </p:txBody>
      </p:sp>
      <p:sp>
        <p:nvSpPr>
          <p:cNvPr id="11" name="補足 上場・売却によるEXIT"/>
          <p:cNvSpPr txBox="1"/>
          <p:nvPr/>
        </p:nvSpPr>
        <p:spPr>
          <a:xfrm>
            <a:off x="3648456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レジル（上場・TOB）、ふるさと熱電（売却）</a:t>
            </a:r>
            <a:endParaRPr lang="en-US" sz="1100" dirty="0"/>
          </a:p>
        </p:txBody>
      </p:sp>
      <p:sp>
        <p:nvSpPr>
          <p:cNvPr id="12" name="カード グループの事業会社"/>
          <p:cNvSpPr/>
          <p:nvPr/>
        </p:nvSpPr>
        <p:spPr>
          <a:xfrm>
            <a:off x="6199632" y="1783080"/>
            <a:ext cx="2651760" cy="265176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3" name="数字 グループの事業会社"/>
          <p:cNvSpPr txBox="1"/>
          <p:nvPr/>
        </p:nvSpPr>
        <p:spPr>
          <a:xfrm>
            <a:off x="6473952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</a:rPr>
              <a:t>18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社</a:t>
            </a:r>
            <a:endParaRPr lang="en-US" sz="1400" dirty="0"/>
          </a:p>
        </p:txBody>
      </p:sp>
      <p:sp>
        <p:nvSpPr>
          <p:cNvPr id="14" name="ラベル グループの事業会社"/>
          <p:cNvSpPr txBox="1"/>
          <p:nvPr/>
        </p:nvSpPr>
        <p:spPr>
          <a:xfrm>
            <a:off x="6473952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グループの事業会社</a:t>
            </a:r>
            <a:endParaRPr lang="en-US" sz="1500" dirty="0"/>
          </a:p>
        </p:txBody>
      </p:sp>
      <p:sp>
        <p:nvSpPr>
          <p:cNvPr id="15" name="補足 グループの事業会社"/>
          <p:cNvSpPr txBox="1"/>
          <p:nvPr/>
        </p:nvSpPr>
        <p:spPr>
          <a:xfrm>
            <a:off x="6473952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6つの事業領域に展開</a:t>
            </a:r>
            <a:endParaRPr lang="en-US" sz="1100" dirty="0"/>
          </a:p>
        </p:txBody>
      </p:sp>
      <p:sp>
        <p:nvSpPr>
          <p:cNvPr id="16" name="カード 100億企業の目標"/>
          <p:cNvSpPr/>
          <p:nvPr/>
        </p:nvSpPr>
        <p:spPr>
          <a:xfrm>
            <a:off x="9025128" y="1783080"/>
            <a:ext cx="2651760" cy="265176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7" name="数字 100億企業の目標"/>
          <p:cNvSpPr txBox="1"/>
          <p:nvPr/>
        </p:nvSpPr>
        <p:spPr>
          <a:xfrm>
            <a:off x="9299448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社</a:t>
            </a:r>
            <a:endParaRPr lang="en-US" sz="1400" dirty="0"/>
          </a:p>
        </p:txBody>
      </p:sp>
      <p:sp>
        <p:nvSpPr>
          <p:cNvPr id="18" name="ラベル 100億企業の目標"/>
          <p:cNvSpPr txBox="1"/>
          <p:nvPr/>
        </p:nvSpPr>
        <p:spPr>
          <a:xfrm>
            <a:off x="9299448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100億企業の目標</a:t>
            </a:r>
            <a:endParaRPr lang="en-US" sz="1500" dirty="0"/>
          </a:p>
        </p:txBody>
      </p:sp>
      <p:sp>
        <p:nvSpPr>
          <p:cNvPr id="19" name="補足 100億企業の目標"/>
          <p:cNvSpPr txBox="1"/>
          <p:nvPr/>
        </p:nvSpPr>
        <p:spPr>
          <a:xfrm>
            <a:off x="9299448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その先に、ユニコーン3社</a:t>
            </a:r>
            <a:endParaRPr lang="en-US" sz="1100" dirty="0"/>
          </a:p>
        </p:txBody>
      </p:sp>
      <p:sp>
        <p:nvSpPr>
          <p:cNvPr id="20" name="見出し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ユニコーン企業を3社創出するために、100億円企業を創り続ける。</a:t>
            </a:r>
            <a:endParaRPr lang="en-US" sz="2200" dirty="0"/>
          </a:p>
        </p:txBody>
      </p:sp>
      <p:sp>
        <p:nvSpPr>
          <p:cNvPr id="21" name="注記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EXIT実績：レジル（旧 中央電力）は2024年4月に東証グロース市場へ上場、その後ベインキャピタルへ売却。ふるさと熱電は2025年8月にベースロードキャピタルへ売却。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GROUP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6つの事業領域、18社の事業会社</a:t>
            </a:r>
            <a:endParaRPr lang="en-US" sz="2800" dirty="0"/>
          </a:p>
        </p:txBody>
      </p:sp>
      <p:sp>
        <p:nvSpPr>
          <p:cNvPr id="4" name="カード te-gi.png"/>
          <p:cNvSpPr/>
          <p:nvPr/>
        </p:nvSpPr>
        <p:spPr>
          <a:xfrm>
            <a:off x="548640" y="1783080"/>
            <a:ext cx="5440680" cy="1298448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5" name="ロゴ te-gi.png" descr="/tmp/claude-0/-home-user-desktop-tutorial/da594ce8-4d76-57ae-96d9-d86383369921/scratchpad/deck/img/te-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39112"/>
            <a:ext cx="2842478" cy="310896"/>
          </a:xfrm>
          <a:prstGeom prst="rect">
            <a:avLst/>
          </a:prstGeom>
        </p:spPr>
      </p:pic>
      <p:sp>
        <p:nvSpPr>
          <p:cNvPr id="6" name="傘下 te-gi.png"/>
          <p:cNvSpPr txBox="1"/>
          <p:nvPr/>
        </p:nvSpPr>
        <p:spPr>
          <a:xfrm>
            <a:off x="822960" y="2532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㈱バイウィル</a:t>
            </a:r>
            <a:endParaRPr lang="en-US" sz="1200" dirty="0"/>
          </a:p>
        </p:txBody>
      </p:sp>
      <p:sp>
        <p:nvSpPr>
          <p:cNvPr id="7" name="カード te-geo.png"/>
          <p:cNvSpPr/>
          <p:nvPr/>
        </p:nvSpPr>
        <p:spPr>
          <a:xfrm>
            <a:off x="6217920" y="1783080"/>
            <a:ext cx="5440680" cy="1298448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8" name="ロゴ te-geo.png" descr="/tmp/claude-0/-home-user-desktop-tutorial/da594ce8-4d76-57ae-96d9-d86383369921/scratchpad/deck/img/te-g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9112"/>
            <a:ext cx="3242201" cy="310896"/>
          </a:xfrm>
          <a:prstGeom prst="rect">
            <a:avLst/>
          </a:prstGeom>
        </p:spPr>
      </p:pic>
      <p:sp>
        <p:nvSpPr>
          <p:cNvPr id="9" name="傘下 te-geo.png"/>
          <p:cNvSpPr txBox="1"/>
          <p:nvPr/>
        </p:nvSpPr>
        <p:spPr>
          <a:xfrm>
            <a:off x="6492240" y="2532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㈱GeoDreams</a:t>
            </a:r>
            <a:endParaRPr lang="en-US" sz="1200" dirty="0"/>
          </a:p>
        </p:txBody>
      </p:sp>
      <p:sp>
        <p:nvSpPr>
          <p:cNvPr id="10" name="カード te-ai.png"/>
          <p:cNvSpPr/>
          <p:nvPr/>
        </p:nvSpPr>
        <p:spPr>
          <a:xfrm>
            <a:off x="548640" y="3246120"/>
            <a:ext cx="5440680" cy="1298448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11" name="ロゴ te-ai.png" descr="/tmp/claude-0/-home-user-desktop-tutorial/da594ce8-4d76-57ae-96d9-d86383369921/scratchpad/deck/img/te-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02152"/>
            <a:ext cx="3438144" cy="310896"/>
          </a:xfrm>
          <a:prstGeom prst="rect">
            <a:avLst/>
          </a:prstGeom>
        </p:spPr>
      </p:pic>
      <p:sp>
        <p:nvSpPr>
          <p:cNvPr id="12" name="傘下 te-ai.png"/>
          <p:cNvSpPr txBox="1"/>
          <p:nvPr/>
        </p:nvSpPr>
        <p:spPr>
          <a:xfrm>
            <a:off x="822960" y="39959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㈱キャナルAI　／　㈱スケールエーアイ　／　MIRACRE AI㈱</a:t>
            </a:r>
            <a:endParaRPr lang="en-US" sz="1200" dirty="0"/>
          </a:p>
        </p:txBody>
      </p:sp>
      <p:sp>
        <p:nvSpPr>
          <p:cNvPr id="13" name="カード te-gli.png"/>
          <p:cNvSpPr/>
          <p:nvPr/>
        </p:nvSpPr>
        <p:spPr>
          <a:xfrm>
            <a:off x="6217920" y="3246120"/>
            <a:ext cx="5440680" cy="1298448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14" name="ロゴ te-gli.png" descr="/tmp/claude-0/-home-user-desktop-tutorial/da594ce8-4d76-57ae-96d9-d86383369921/scratchpad/deck/img/te-gl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502152"/>
            <a:ext cx="2993484" cy="310896"/>
          </a:xfrm>
          <a:prstGeom prst="rect">
            <a:avLst/>
          </a:prstGeom>
        </p:spPr>
      </p:pic>
      <p:sp>
        <p:nvSpPr>
          <p:cNvPr id="15" name="傘下 te-gli.png"/>
          <p:cNvSpPr txBox="1"/>
          <p:nvPr/>
        </p:nvSpPr>
        <p:spPr>
          <a:xfrm>
            <a:off x="6492240" y="39959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Team Glocal㈱</a:t>
            </a:r>
            <a:endParaRPr lang="en-US" sz="1200" dirty="0"/>
          </a:p>
        </p:txBody>
      </p:sp>
      <p:sp>
        <p:nvSpPr>
          <p:cNvPr id="16" name="カード te-growth.png"/>
          <p:cNvSpPr/>
          <p:nvPr/>
        </p:nvSpPr>
        <p:spPr>
          <a:xfrm>
            <a:off x="548640" y="4709160"/>
            <a:ext cx="5440680" cy="1298448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17" name="ロゴ te-growth.png" descr="/tmp/claude-0/-home-user-desktop-tutorial/da594ce8-4d76-57ae-96d9-d86383369921/scratchpad/deck/img/te-grow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65192"/>
            <a:ext cx="3810697" cy="310896"/>
          </a:xfrm>
          <a:prstGeom prst="rect">
            <a:avLst/>
          </a:prstGeom>
        </p:spPr>
      </p:pic>
      <p:sp>
        <p:nvSpPr>
          <p:cNvPr id="18" name="傘下 te-growth.png"/>
          <p:cNvSpPr txBox="1"/>
          <p:nvPr/>
        </p:nvSpPr>
        <p:spPr>
          <a:xfrm>
            <a:off x="822960" y="5458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㈱AILE　／　㈱ANY　／　弟子屈チャレンジ㈱</a:t>
            </a:r>
            <a:endParaRPr lang="en-US" sz="1200" dirty="0"/>
          </a:p>
        </p:txBody>
      </p:sp>
      <p:sp>
        <p:nvSpPr>
          <p:cNvPr id="19" name="カード te-am.png"/>
          <p:cNvSpPr/>
          <p:nvPr/>
        </p:nvSpPr>
        <p:spPr>
          <a:xfrm>
            <a:off x="6217920" y="4709160"/>
            <a:ext cx="5440680" cy="1298448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20" name="ロゴ te-am.png" descr="/tmp/claude-0/-home-user-desktop-tutorial/da594ce8-4d76-57ae-96d9-d86383369921/scratchpad/deck/img/te-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965192"/>
            <a:ext cx="3090672" cy="310896"/>
          </a:xfrm>
          <a:prstGeom prst="rect">
            <a:avLst/>
          </a:prstGeom>
        </p:spPr>
      </p:pic>
      <p:sp>
        <p:nvSpPr>
          <p:cNvPr id="21" name="傘下 te-am.png"/>
          <p:cNvSpPr txBox="1"/>
          <p:nvPr/>
        </p:nvSpPr>
        <p:spPr>
          <a:xfrm>
            <a:off x="6492240" y="5458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アセットマネジメント</a:t>
            </a:r>
            <a:endParaRPr lang="en-US" sz="1200" dirty="0"/>
          </a:p>
        </p:txBody>
      </p:sp>
      <p:sp>
        <p:nvSpPr>
          <p:cNvPr id="22" name="注記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Team Energy株式会社を中心に、6つの中間持株会社（事業領域）の下で各事業会社を運営しています。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100億円企業を創り続ける</a:t>
            </a:r>
            <a:endParaRPr lang="en-US" sz="2800" dirty="0"/>
          </a:p>
        </p:txBody>
      </p:sp>
      <p:sp>
        <p:nvSpPr>
          <p:cNvPr id="4" name="グラフ見出し"/>
          <p:cNvSpPr txBox="1"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各社の企業価値の規模</a:t>
            </a:r>
            <a:endParaRPr lang="en-US" sz="1400" dirty="0"/>
          </a:p>
        </p:txBody>
      </p:sp>
      <p:graphicFrame>
        <p:nvGraphicFramePr>
          <p:cNvPr id="5" name="企業価値の規模" descr=""/>
          <p:cNvGraphicFramePr/>
          <p:nvPr/>
        </p:nvGraphicFramePr>
        <p:xfrm>
          <a:off x="548640" y="210312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グラフ注記"/>
          <p:cNvSpPr txBox="1"/>
          <p:nvPr/>
        </p:nvSpPr>
        <p:spPr>
          <a:xfrm>
            <a:off x="548640" y="5486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棒の長さは企業価値の相対的な規模。金額は非公表。左から歴史の順。</a:t>
            </a:r>
            <a:endParaRPr lang="en-US" sz="1000" dirty="0"/>
          </a:p>
        </p:txBody>
      </p:sp>
      <p:sp>
        <p:nvSpPr>
          <p:cNvPr id="7" name="カード ふるさと熱電"/>
          <p:cNvSpPr/>
          <p:nvPr/>
        </p:nvSpPr>
        <p:spPr>
          <a:xfrm>
            <a:off x="6720840" y="1783080"/>
            <a:ext cx="4919472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8" name="区分 ふるさと熱電"/>
          <p:cNvSpPr txBox="1"/>
          <p:nvPr/>
        </p:nvSpPr>
        <p:spPr>
          <a:xfrm>
            <a:off x="6949440" y="19110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EXIT</a:t>
            </a:r>
            <a:endParaRPr lang="en-US" sz="1000" dirty="0"/>
          </a:p>
        </p:txBody>
      </p:sp>
      <p:sp>
        <p:nvSpPr>
          <p:cNvPr id="9" name="社名 ふるさと熱電"/>
          <p:cNvSpPr txBox="1"/>
          <p:nvPr/>
        </p:nvSpPr>
        <p:spPr>
          <a:xfrm>
            <a:off x="7909560" y="187452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ふるさと熱電</a:t>
            </a:r>
            <a:endParaRPr lang="en-US" sz="1500" dirty="0"/>
          </a:p>
        </p:txBody>
      </p:sp>
      <p:sp>
        <p:nvSpPr>
          <p:cNvPr id="10" name="説明 ふるさと熱電"/>
          <p:cNvSpPr txBox="1"/>
          <p:nvPr/>
        </p:nvSpPr>
        <p:spPr>
          <a:xfrm>
            <a:off x="6949440" y="2240280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ベースロードキャピタルへ売却。地域と共生する地熱発電所の運営</a:t>
            </a:r>
            <a:endParaRPr lang="en-US" sz="1050" dirty="0"/>
          </a:p>
        </p:txBody>
      </p:sp>
      <p:sp>
        <p:nvSpPr>
          <p:cNvPr id="11" name="カード REZIL（レジル）"/>
          <p:cNvSpPr/>
          <p:nvPr/>
        </p:nvSpPr>
        <p:spPr>
          <a:xfrm>
            <a:off x="6720840" y="2807208"/>
            <a:ext cx="4919472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2" name="区分 REZIL（レジル）"/>
          <p:cNvSpPr txBox="1"/>
          <p:nvPr/>
        </p:nvSpPr>
        <p:spPr>
          <a:xfrm>
            <a:off x="6949440" y="29352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EXIT</a:t>
            </a:r>
            <a:endParaRPr lang="en-US" sz="1000" dirty="0"/>
          </a:p>
        </p:txBody>
      </p:sp>
      <p:sp>
        <p:nvSpPr>
          <p:cNvPr id="13" name="社名 REZIL（レジル）"/>
          <p:cNvSpPr txBox="1"/>
          <p:nvPr/>
        </p:nvSpPr>
        <p:spPr>
          <a:xfrm>
            <a:off x="7909560" y="289864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REZIL（レジル）</a:t>
            </a:r>
            <a:endParaRPr lang="en-US" sz="1500" dirty="0"/>
          </a:p>
        </p:txBody>
      </p:sp>
      <p:sp>
        <p:nvSpPr>
          <p:cNvPr id="14" name="説明 REZIL（レジル）"/>
          <p:cNvSpPr txBox="1"/>
          <p:nvPr/>
        </p:nvSpPr>
        <p:spPr>
          <a:xfrm>
            <a:off x="6949440" y="3264408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2024年 東証グロース上場。その後、ベインキャピタルへ売却。マンション一括受電のパイオニア</a:t>
            </a:r>
            <a:endParaRPr lang="en-US" sz="1050" dirty="0"/>
          </a:p>
        </p:txBody>
      </p:sp>
      <p:sp>
        <p:nvSpPr>
          <p:cNvPr id="15" name="カード BY WILL（バイウィル）"/>
          <p:cNvSpPr/>
          <p:nvPr/>
        </p:nvSpPr>
        <p:spPr>
          <a:xfrm>
            <a:off x="6720840" y="3831336"/>
            <a:ext cx="4919472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6" name="区分 BY WILL（バイウィル）"/>
          <p:cNvSpPr txBox="1"/>
          <p:nvPr/>
        </p:nvSpPr>
        <p:spPr>
          <a:xfrm>
            <a:off x="6949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未上場</a:t>
            </a:r>
            <a:endParaRPr lang="en-US" sz="1000" dirty="0"/>
          </a:p>
        </p:txBody>
      </p:sp>
      <p:sp>
        <p:nvSpPr>
          <p:cNvPr id="17" name="社名 BY WILL（バイウィル）"/>
          <p:cNvSpPr txBox="1"/>
          <p:nvPr/>
        </p:nvSpPr>
        <p:spPr>
          <a:xfrm>
            <a:off x="7909560" y="392277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BY WILL（バイウィル）</a:t>
            </a:r>
            <a:endParaRPr lang="en-US" sz="1500" dirty="0"/>
          </a:p>
        </p:txBody>
      </p:sp>
      <p:sp>
        <p:nvSpPr>
          <p:cNvPr id="18" name="説明 BY WILL（バイウィル）"/>
          <p:cNvSpPr txBox="1"/>
          <p:nvPr/>
        </p:nvSpPr>
        <p:spPr>
          <a:xfrm>
            <a:off x="6949440" y="4288536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累計約30億円を調達。地銀45行・自治体60超と連携する環境クレジット創出事業</a:t>
            </a:r>
            <a:endParaRPr lang="en-US" sz="1050" dirty="0"/>
          </a:p>
        </p:txBody>
      </p:sp>
      <p:sp>
        <p:nvSpPr>
          <p:cNvPr id="19" name="カード GeoDreams"/>
          <p:cNvSpPr/>
          <p:nvPr/>
        </p:nvSpPr>
        <p:spPr>
          <a:xfrm>
            <a:off x="6720840" y="4855464"/>
            <a:ext cx="4919472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20" name="区分 GeoDreams"/>
          <p:cNvSpPr txBox="1"/>
          <p:nvPr/>
        </p:nvSpPr>
        <p:spPr>
          <a:xfrm>
            <a:off x="6949440" y="4983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未上場</a:t>
            </a:r>
            <a:endParaRPr lang="en-US" sz="1000" dirty="0"/>
          </a:p>
        </p:txBody>
      </p:sp>
      <p:sp>
        <p:nvSpPr>
          <p:cNvPr id="21" name="社名 GeoDreams"/>
          <p:cNvSpPr txBox="1"/>
          <p:nvPr/>
        </p:nvSpPr>
        <p:spPr>
          <a:xfrm>
            <a:off x="7909560" y="494690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GeoDreams</a:t>
            </a:r>
            <a:endParaRPr lang="en-US" sz="1500" dirty="0"/>
          </a:p>
        </p:txBody>
      </p:sp>
      <p:sp>
        <p:nvSpPr>
          <p:cNvPr id="22" name="説明 GeoDreams"/>
          <p:cNvSpPr txBox="1"/>
          <p:nvPr/>
        </p:nvSpPr>
        <p:spPr>
          <a:xfrm>
            <a:off x="6949440" y="5312664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クローズドループ地熱の開発。次世代型地熱発電の掘削・探査・運営を一貫して担う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摩周湖の写真" descr="/tmp/claude-0/-home-user-desktop-tutorial/da594ce8-4d76-57ae-96d9-d86383369921/scratchpad/deck/img/teshikaga-mash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ラベル"/>
          <p:cNvSpPr txBox="1"/>
          <p:nvPr/>
        </p:nvSpPr>
        <p:spPr>
          <a:xfrm>
            <a:off x="5943600" y="365760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CASE ｜ 弟子屈チャレンジ株式会社</a:t>
            </a:r>
            <a:endParaRPr lang="en-US" sz="1100" dirty="0"/>
          </a:p>
        </p:txBody>
      </p:sp>
      <p:sp>
        <p:nvSpPr>
          <p:cNvPr id="4" name="タイトル"/>
          <p:cNvSpPr txBox="1"/>
          <p:nvPr/>
        </p:nvSpPr>
        <p:spPr>
          <a:xfrm>
            <a:off x="5943600" y="658368"/>
            <a:ext cx="5699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摩周湖に最も近いホテルを、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地域の環境文化拠点へ。</a:t>
            </a:r>
            <a:endParaRPr lang="en-US" sz="2400" dirty="0"/>
          </a:p>
        </p:txBody>
      </p:sp>
      <p:sp>
        <p:nvSpPr>
          <p:cNvPr id="5" name="施設名"/>
          <p:cNvSpPr txBox="1"/>
          <p:nvPr/>
        </p:nvSpPr>
        <p:spPr>
          <a:xfrm>
            <a:off x="5943600" y="187452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Nature Base Hotel NUPPUKOTTE（旧 レラ摩周）／北海道川上郡弟子屈町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2377440"/>
            <a:ext cx="569945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7" name="年 2022"/>
          <p:cNvSpPr txBox="1"/>
          <p:nvPr/>
        </p:nvSpPr>
        <p:spPr>
          <a:xfrm>
            <a:off x="594360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2022</a:t>
            </a:r>
            <a:endParaRPr lang="en-US" sz="1200" dirty="0"/>
          </a:p>
        </p:txBody>
      </p:sp>
      <p:sp>
        <p:nvSpPr>
          <p:cNvPr id="8" name="出来事 2022"/>
          <p:cNvSpPr txBox="1"/>
          <p:nvPr/>
        </p:nvSpPr>
        <p:spPr>
          <a:xfrm>
            <a:off x="6995160" y="24688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弟子屈チャレンジを設立し、「レラ摩周」として再開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2834640"/>
            <a:ext cx="569945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0" name="年 2023"/>
          <p:cNvSpPr txBox="1"/>
          <p:nvPr/>
        </p:nvSpPr>
        <p:spPr>
          <a:xfrm>
            <a:off x="5943600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2023</a:t>
            </a:r>
            <a:endParaRPr lang="en-US" sz="1200" dirty="0"/>
          </a:p>
        </p:txBody>
      </p:sp>
      <p:sp>
        <p:nvSpPr>
          <p:cNvPr id="11" name="出来事 2023"/>
          <p:cNvSpPr txBox="1"/>
          <p:nvPr/>
        </p:nvSpPr>
        <p:spPr>
          <a:xfrm>
            <a:off x="6995160" y="29260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通年営業へ。運営体制をゼロから作り直す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3291840"/>
            <a:ext cx="569945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3" name="年 2025.05"/>
          <p:cNvSpPr txBox="1"/>
          <p:nvPr/>
        </p:nvSpPr>
        <p:spPr>
          <a:xfrm>
            <a:off x="594360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2025.05</a:t>
            </a:r>
            <a:endParaRPr lang="en-US" sz="1200" dirty="0"/>
          </a:p>
        </p:txBody>
      </p:sp>
      <p:sp>
        <p:nvSpPr>
          <p:cNvPr id="14" name="出来事 2025.05"/>
          <p:cNvSpPr txBox="1"/>
          <p:nvPr/>
        </p:nvSpPr>
        <p:spPr>
          <a:xfrm>
            <a:off x="6995160" y="33832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全面改装に着手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3749040"/>
            <a:ext cx="569945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6" name="年 2025.07"/>
          <p:cNvSpPr txBox="1"/>
          <p:nvPr/>
        </p:nvSpPr>
        <p:spPr>
          <a:xfrm>
            <a:off x="594360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2025.07</a:t>
            </a:r>
            <a:endParaRPr lang="en-US" sz="1200" dirty="0"/>
          </a:p>
        </p:txBody>
      </p:sp>
      <p:sp>
        <p:nvSpPr>
          <p:cNvPr id="17" name="出来事 2025.07"/>
          <p:cNvSpPr txBox="1"/>
          <p:nvPr/>
        </p:nvSpPr>
        <p:spPr>
          <a:xfrm>
            <a:off x="6995160" y="38404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Nature Base Hotel NUPPUKOTTE として再出発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4206240"/>
            <a:ext cx="569945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9" name="取り組みラベル"/>
          <p:cNvSpPr txBox="1"/>
          <p:nvPr/>
        </p:nvSpPr>
        <p:spPr>
          <a:xfrm>
            <a:off x="5943600" y="4389120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取り組み</a:t>
            </a:r>
            <a:endParaRPr lang="en-US" sz="1100" dirty="0"/>
          </a:p>
        </p:txBody>
      </p:sp>
      <p:sp>
        <p:nvSpPr>
          <p:cNvPr id="20" name="取り組み一覧"/>
          <p:cNvSpPr txBox="1"/>
          <p:nvPr/>
        </p:nvSpPr>
        <p:spPr>
          <a:xfrm>
            <a:off x="5943600" y="46634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経営人材を送り込む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コンセプトを立て直す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食で差をつける（摩周鹿の料理）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法人・団体需要を開拓する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地域と組み、ホテルの先に地域開発を見る</a:t>
            </a:r>
            <a:endParaRPr lang="en-US" sz="1200" dirty="0"/>
          </a:p>
        </p:txBody>
      </p:sp>
      <p:sp>
        <p:nvSpPr>
          <p:cNvPr id="21" name="施設概要"/>
          <p:cNvSpPr txBox="1"/>
          <p:nvPr/>
        </p:nvSpPr>
        <p:spPr>
          <a:xfrm>
            <a:off x="9692640" y="4663440"/>
            <a:ext cx="1950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全7室スイート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46〜99㎡／最大23名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レストラン24席・ラウンジ</a:t>
            </a:r>
            <a:endParaRPr lang="en-US" sz="1400" dirty="0"/>
          </a:p>
        </p:txBody>
      </p:sp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PEOPLE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代表取締役 グループCEO　中村 誠司</a:t>
            </a:r>
            <a:endParaRPr lang="en-US" sz="2800" dirty="0"/>
          </a:p>
        </p:txBody>
      </p:sp>
      <p:pic>
        <p:nvPicPr>
          <p:cNvPr id="4" name="中村 誠司の写真" descr="/tmp/claude-0/-home-user-desktop-tutorial/da594ce8-4d76-57ae-96d9-d86383369921/scratchpad/deck/img/ceo-nakamu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749040" cy="2468880"/>
          </a:xfrm>
          <a:prstGeom prst="rect">
            <a:avLst/>
          </a:prstGeom>
        </p:spPr>
      </p:pic>
      <p:sp>
        <p:nvSpPr>
          <p:cNvPr id="5" name="実績ラベル"/>
          <p:cNvSpPr txBox="1"/>
          <p:nvPr/>
        </p:nvSpPr>
        <p:spPr>
          <a:xfrm>
            <a:off x="54864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主な実績</a:t>
            </a:r>
            <a:endParaRPr lang="en-US" sz="1100" dirty="0"/>
          </a:p>
        </p:txBody>
      </p:sp>
      <p:sp>
        <p:nvSpPr>
          <p:cNvPr id="6" name="実績 レジル（旧 中央電力）"/>
          <p:cNvSpPr txBox="1"/>
          <p:nvPr/>
        </p:nvSpPr>
        <p:spPr>
          <a:xfrm>
            <a:off x="548640" y="4709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レジル（旧 中央電力）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2024年上場。その後、ベインキャピタルへ売却</a:t>
            </a:r>
            <a:endParaRPr lang="en-US" sz="1100" dirty="0"/>
          </a:p>
        </p:txBody>
      </p:sp>
      <p:sp>
        <p:nvSpPr>
          <p:cNvPr id="7" name="実績 ふるさと熱電"/>
          <p:cNvSpPr txBox="1"/>
          <p:nvPr/>
        </p:nvSpPr>
        <p:spPr>
          <a:xfrm>
            <a:off x="548640" y="51206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ふるさと熱電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2025年8月、ベースロードキャピタルへ売却</a:t>
            </a:r>
            <a:endParaRPr lang="en-US" sz="1100" dirty="0"/>
          </a:p>
        </p:txBody>
      </p:sp>
      <p:sp>
        <p:nvSpPr>
          <p:cNvPr id="8" name="実績 GeoDreams"/>
          <p:cNvSpPr txBox="1"/>
          <p:nvPr/>
        </p:nvSpPr>
        <p:spPr>
          <a:xfrm>
            <a:off x="548640" y="55321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GeoDreams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2022年設立。北海道八雲町で地熱発電事業を推進</a:t>
            </a:r>
            <a:endParaRPr lang="en-US" sz="1100" dirty="0"/>
          </a:p>
        </p:txBody>
      </p:sp>
      <p:sp>
        <p:nvSpPr>
          <p:cNvPr id="9" name="実績 BY WILL"/>
          <p:cNvSpPr txBox="1"/>
          <p:nvPr/>
        </p:nvSpPr>
        <p:spPr>
          <a:xfrm>
            <a:off x="548640" y="594360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BY WILL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2023年設立。CO₂排出権創出事業を展開、約30億円を調達</a:t>
            </a:r>
            <a:endParaRPr lang="en-US" sz="1100" dirty="0"/>
          </a:p>
        </p:txBody>
      </p:sp>
      <p:sp>
        <p:nvSpPr>
          <p:cNvPr id="10" name="略歴"/>
          <p:cNvSpPr txBox="1"/>
          <p:nvPr/>
        </p:nvSpPr>
        <p:spPr>
          <a:xfrm>
            <a:off x="5120640" y="1783080"/>
            <a:ext cx="65224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省エネ事業で株式会社メリックスを創業後、2004年に中央電力株式会社を設立。2012年にTeam Energy株式会社を設立。経営歴34年で58社を設立し、その多くを統合・廃止。失敗した会社の数は経営者仲間の中でも「自称トップ」。その一方で、企業価値100億円を超える企業を4社創出し、レジル（旧 中央電力）を上場・売却まで導く。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3520440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2" name="年 0"/>
          <p:cNvSpPr txBox="1"/>
          <p:nvPr/>
        </p:nvSpPr>
        <p:spPr>
          <a:xfrm>
            <a:off x="5120640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1993</a:t>
            </a:r>
            <a:endParaRPr lang="en-US" sz="1200" dirty="0"/>
          </a:p>
        </p:txBody>
      </p:sp>
      <p:sp>
        <p:nvSpPr>
          <p:cNvPr id="13" name="出来事 0"/>
          <p:cNvSpPr txBox="1"/>
          <p:nvPr/>
        </p:nvSpPr>
        <p:spPr>
          <a:xfrm>
            <a:off x="6172200" y="3602736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省エネに関わる事業を開始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120640" y="3950208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5" name="年 1"/>
          <p:cNvSpPr txBox="1"/>
          <p:nvPr/>
        </p:nvSpPr>
        <p:spPr>
          <a:xfrm>
            <a:off x="5120640" y="40325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1994</a:t>
            </a:r>
            <a:endParaRPr lang="en-US" sz="1200" dirty="0"/>
          </a:p>
        </p:txBody>
      </p:sp>
      <p:sp>
        <p:nvSpPr>
          <p:cNvPr id="16" name="出来事 1"/>
          <p:cNvSpPr txBox="1"/>
          <p:nvPr/>
        </p:nvSpPr>
        <p:spPr>
          <a:xfrm>
            <a:off x="6172200" y="4032504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省エネ事業で株式会社メリックスを創業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120640" y="4379976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8" name="年 2"/>
          <p:cNvSpPr txBox="1"/>
          <p:nvPr/>
        </p:nvSpPr>
        <p:spPr>
          <a:xfrm>
            <a:off x="5120640" y="4462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2004</a:t>
            </a:r>
            <a:endParaRPr lang="en-US" sz="1200" dirty="0"/>
          </a:p>
        </p:txBody>
      </p:sp>
      <p:sp>
        <p:nvSpPr>
          <p:cNvPr id="19" name="出来事 2"/>
          <p:cNvSpPr txBox="1"/>
          <p:nvPr/>
        </p:nvSpPr>
        <p:spPr>
          <a:xfrm>
            <a:off x="6172200" y="4462272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中央電力株式会社を設立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120640" y="4809744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1" name="年 3"/>
          <p:cNvSpPr txBox="1"/>
          <p:nvPr/>
        </p:nvSpPr>
        <p:spPr>
          <a:xfrm>
            <a:off x="5120640" y="4892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2012</a:t>
            </a:r>
            <a:endParaRPr lang="en-US" sz="1200" dirty="0"/>
          </a:p>
        </p:txBody>
      </p:sp>
      <p:sp>
        <p:nvSpPr>
          <p:cNvPr id="22" name="出来事 3"/>
          <p:cNvSpPr txBox="1"/>
          <p:nvPr/>
        </p:nvSpPr>
        <p:spPr>
          <a:xfrm>
            <a:off x="6172200" y="4892040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Team Energy株式会社を設立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120640" y="5239512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4" name="年 4"/>
          <p:cNvSpPr txBox="1"/>
          <p:nvPr/>
        </p:nvSpPr>
        <p:spPr>
          <a:xfrm>
            <a:off x="5120640" y="5321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2012</a:t>
            </a:r>
            <a:endParaRPr lang="en-US" sz="1200" dirty="0"/>
          </a:p>
        </p:txBody>
      </p:sp>
      <p:sp>
        <p:nvSpPr>
          <p:cNvPr id="25" name="出来事 4"/>
          <p:cNvSpPr txBox="1"/>
          <p:nvPr/>
        </p:nvSpPr>
        <p:spPr>
          <a:xfrm>
            <a:off x="6172200" y="5321808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ふるさと熱電株式会社を設立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120640" y="5669280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7" name="年 5"/>
          <p:cNvSpPr txBox="1"/>
          <p:nvPr/>
        </p:nvSpPr>
        <p:spPr>
          <a:xfrm>
            <a:off x="5120640" y="57515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2024.04</a:t>
            </a:r>
            <a:endParaRPr lang="en-US" sz="1200" dirty="0"/>
          </a:p>
        </p:txBody>
      </p:sp>
      <p:sp>
        <p:nvSpPr>
          <p:cNvPr id="28" name="出来事 5"/>
          <p:cNvSpPr txBox="1"/>
          <p:nvPr/>
        </p:nvSpPr>
        <p:spPr>
          <a:xfrm>
            <a:off x="6172200" y="5751576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レジル株式会社（旧 中央電力）がグロース市場に上場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120640" y="6099048"/>
            <a:ext cx="6522415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ffic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PEOPLE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経営陣</a:t>
            </a:r>
            <a:endParaRPr lang="en-US" sz="2800" dirty="0"/>
          </a:p>
        </p:txBody>
      </p:sp>
      <p:sp>
        <p:nvSpPr>
          <p:cNvPr id="4" name="カード 服部 浩久"/>
          <p:cNvSpPr/>
          <p:nvPr/>
        </p:nvSpPr>
        <p:spPr>
          <a:xfrm>
            <a:off x="548640" y="1783080"/>
            <a:ext cx="5440680" cy="429768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pic>
        <p:nvPicPr>
          <p:cNvPr id="5" name="服部 浩久の写真" descr="/tmp/claude-0/-home-user-desktop-tutorial/da594ce8-4d76-57ae-96d9-d86383369921/scratchpad/deck/img/coo-hattor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1920240" cy="1920240"/>
          </a:xfrm>
          <a:prstGeom prst="rect">
            <a:avLst/>
          </a:prstGeom>
        </p:spPr>
      </p:pic>
      <p:sp>
        <p:nvSpPr>
          <p:cNvPr id="6" name="役職 服部 浩久"/>
          <p:cNvSpPr txBox="1"/>
          <p:nvPr/>
        </p:nvSpPr>
        <p:spPr>
          <a:xfrm>
            <a:off x="29718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グループ最高執行責任者（COO）</a:t>
            </a:r>
            <a:endParaRPr lang="en-US" sz="1100" dirty="0"/>
          </a:p>
        </p:txBody>
      </p:sp>
      <p:sp>
        <p:nvSpPr>
          <p:cNvPr id="7" name="氏名 服部 浩久"/>
          <p:cNvSpPr txBox="1"/>
          <p:nvPr/>
        </p:nvSpPr>
        <p:spPr>
          <a:xfrm>
            <a:off x="297180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服部 浩久</a:t>
            </a:r>
            <a:endParaRPr lang="en-US" sz="2400" dirty="0"/>
          </a:p>
        </p:txBody>
      </p:sp>
      <p:sp>
        <p:nvSpPr>
          <p:cNvPr id="8" name="出身 服部 浩久"/>
          <p:cNvSpPr txBox="1"/>
          <p:nvPr/>
        </p:nvSpPr>
        <p:spPr>
          <a:xfrm>
            <a:off x="29718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京都大学卒</a:t>
            </a:r>
            <a:endParaRPr lang="en-US" sz="1100" dirty="0"/>
          </a:p>
        </p:txBody>
      </p:sp>
      <p:sp>
        <p:nvSpPr>
          <p:cNvPr id="9" name="経歴ラベル 服部 浩久"/>
          <p:cNvSpPr txBox="1"/>
          <p:nvPr/>
        </p:nvSpPr>
        <p:spPr>
          <a:xfrm>
            <a:off x="822960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これまでの経歴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4480560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1" name="経歴 服部 浩久 0"/>
          <p:cNvSpPr txBox="1"/>
          <p:nvPr/>
        </p:nvSpPr>
        <p:spPr>
          <a:xfrm>
            <a:off x="822960" y="4526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USEN 常務取締役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4791456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3" name="経歴 服部 浩久 1"/>
          <p:cNvSpPr txBox="1"/>
          <p:nvPr/>
        </p:nvSpPr>
        <p:spPr>
          <a:xfrm>
            <a:off x="822960" y="48371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住信SBIネット銀行 執行役員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5102352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5" name="経歴 服部 浩久 2"/>
          <p:cNvSpPr txBox="1"/>
          <p:nvPr/>
        </p:nvSpPr>
        <p:spPr>
          <a:xfrm>
            <a:off x="822960" y="51480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日本航空との合弁会社 代表取締役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5413248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7" name="経歴 服部 浩久 3"/>
          <p:cNvSpPr txBox="1"/>
          <p:nvPr/>
        </p:nvSpPr>
        <p:spPr>
          <a:xfrm>
            <a:off x="822960" y="54589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現在　Team Energy グループ最高執行責任者（COO）</a:t>
            </a:r>
            <a:endParaRPr lang="en-US" sz="1150" dirty="0"/>
          </a:p>
        </p:txBody>
      </p:sp>
      <p:sp>
        <p:nvSpPr>
          <p:cNvPr id="18" name="カード 杉野 輝也"/>
          <p:cNvSpPr/>
          <p:nvPr/>
        </p:nvSpPr>
        <p:spPr>
          <a:xfrm>
            <a:off x="6217920" y="1783080"/>
            <a:ext cx="5440680" cy="429768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9" name="杉野 輝也の写真枠"/>
          <p:cNvSpPr/>
          <p:nvPr/>
        </p:nvSpPr>
        <p:spPr>
          <a:xfrm>
            <a:off x="6492240" y="2057400"/>
            <a:ext cx="1920240" cy="192024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20" name="写真準備中"/>
          <p:cNvSpPr txBox="1"/>
          <p:nvPr/>
        </p:nvSpPr>
        <p:spPr>
          <a:xfrm>
            <a:off x="64922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写真準備中</a:t>
            </a:r>
            <a:endParaRPr lang="en-US" sz="1000" dirty="0"/>
          </a:p>
        </p:txBody>
      </p:sp>
      <p:sp>
        <p:nvSpPr>
          <p:cNvPr id="21" name="役職 杉野 輝也"/>
          <p:cNvSpPr txBox="1"/>
          <p:nvPr/>
        </p:nvSpPr>
        <p:spPr>
          <a:xfrm>
            <a:off x="86410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グループ最高財務責任者（CFO）</a:t>
            </a:r>
            <a:endParaRPr lang="en-US" sz="1100" dirty="0"/>
          </a:p>
        </p:txBody>
      </p:sp>
      <p:sp>
        <p:nvSpPr>
          <p:cNvPr id="22" name="氏名 杉野 輝也"/>
          <p:cNvSpPr txBox="1"/>
          <p:nvPr/>
        </p:nvSpPr>
        <p:spPr>
          <a:xfrm>
            <a:off x="864108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杉野 輝也</a:t>
            </a:r>
            <a:endParaRPr lang="en-US" sz="2400" dirty="0"/>
          </a:p>
        </p:txBody>
      </p:sp>
      <p:sp>
        <p:nvSpPr>
          <p:cNvPr id="23" name="出身 杉野 輝也"/>
          <p:cNvSpPr txBox="1"/>
          <p:nvPr/>
        </p:nvSpPr>
        <p:spPr>
          <a:xfrm>
            <a:off x="8641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東京大学卒</a:t>
            </a:r>
            <a:endParaRPr lang="en-US" sz="1100" dirty="0"/>
          </a:p>
        </p:txBody>
      </p:sp>
      <p:sp>
        <p:nvSpPr>
          <p:cNvPr id="24" name="経歴ラベル 杉野 輝也"/>
          <p:cNvSpPr txBox="1"/>
          <p:nvPr/>
        </p:nvSpPr>
        <p:spPr>
          <a:xfrm>
            <a:off x="6492240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これまでの経歴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92240" y="4480560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6" name="経歴 杉野 輝也 0"/>
          <p:cNvSpPr txBox="1"/>
          <p:nvPr/>
        </p:nvSpPr>
        <p:spPr>
          <a:xfrm>
            <a:off x="6492240" y="4526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住友銀行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92240" y="4791456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8" name="経歴 杉野 輝也 1"/>
          <p:cNvSpPr txBox="1"/>
          <p:nvPr/>
        </p:nvSpPr>
        <p:spPr>
          <a:xfrm>
            <a:off x="6492240" y="48371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大和証券SMBC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92240" y="5102352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30" name="経歴 杉野 輝也 2"/>
          <p:cNvSpPr txBox="1"/>
          <p:nvPr/>
        </p:nvSpPr>
        <p:spPr>
          <a:xfrm>
            <a:off x="6492240" y="51480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SMBC日興証券 執行役員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92240" y="5413248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32" name="経歴 杉野 輝也 3"/>
          <p:cNvSpPr txBox="1"/>
          <p:nvPr/>
        </p:nvSpPr>
        <p:spPr>
          <a:xfrm>
            <a:off x="6492240" y="54589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元 三井住友フィナンシャルグループ 執行役員 グループ副CRO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492240" y="5724144"/>
            <a:ext cx="489204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34" name="経歴 杉野 輝也 4"/>
          <p:cNvSpPr txBox="1"/>
          <p:nvPr/>
        </p:nvSpPr>
        <p:spPr>
          <a:xfrm>
            <a:off x="6492240" y="57698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現在　Team Energy グループ最高財務責任者（CFO）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M&amp;A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Team Energy Groupに参加する企業を、お待ちしています</a:t>
            </a:r>
            <a:endParaRPr lang="en-US" sz="2800" dirty="0"/>
          </a:p>
        </p:txBody>
      </p:sp>
      <p:sp>
        <p:nvSpPr>
          <p:cNvPr id="4" name="ポイント 01"/>
          <p:cNvSpPr/>
          <p:nvPr/>
        </p:nvSpPr>
        <p:spPr>
          <a:xfrm>
            <a:off x="548640" y="1783080"/>
            <a:ext cx="3584448" cy="178308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5" name="番号 01"/>
          <p:cNvSpPr txBox="1"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見出し 01"/>
          <p:cNvSpPr txBox="1"/>
          <p:nvPr/>
        </p:nvSpPr>
        <p:spPr>
          <a:xfrm>
            <a:off x="822960" y="23774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業種・エリアを問わず、ご提案をお受けします</a:t>
            </a:r>
            <a:endParaRPr lang="en-US" sz="1300" dirty="0"/>
          </a:p>
        </p:txBody>
      </p:sp>
      <p:sp>
        <p:nvSpPr>
          <p:cNvPr id="7" name="本文 01"/>
          <p:cNvSpPr txBox="1"/>
          <p:nvPr/>
        </p:nvSpPr>
        <p:spPr>
          <a:xfrm>
            <a:off x="822960" y="288036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エネルギー、シニア、地域サービスなど、これまでの投資領域に限らず検討します。</a:t>
            </a:r>
            <a:endParaRPr lang="en-US" sz="1050" dirty="0"/>
          </a:p>
        </p:txBody>
      </p:sp>
      <p:sp>
        <p:nvSpPr>
          <p:cNvPr id="8" name="ポイント 02"/>
          <p:cNvSpPr/>
          <p:nvPr/>
        </p:nvSpPr>
        <p:spPr>
          <a:xfrm>
            <a:off x="4297680" y="1783080"/>
            <a:ext cx="3584448" cy="178308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9" name="番号 02"/>
          <p:cNvSpPr txBox="1"/>
          <p:nvPr/>
        </p:nvSpPr>
        <p:spPr>
          <a:xfrm>
            <a:off x="457200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見出し 02"/>
          <p:cNvSpPr txBox="1"/>
          <p:nvPr/>
        </p:nvSpPr>
        <p:spPr>
          <a:xfrm>
            <a:off x="4572000" y="23774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承継後に誰が経営するかを、先に示します</a:t>
            </a:r>
            <a:endParaRPr lang="en-US" sz="1300" dirty="0"/>
          </a:p>
        </p:txBody>
      </p:sp>
      <p:sp>
        <p:nvSpPr>
          <p:cNvPr id="11" name="本文 02"/>
          <p:cNvSpPr txBox="1"/>
          <p:nvPr/>
        </p:nvSpPr>
        <p:spPr>
          <a:xfrm>
            <a:off x="4572000" y="288036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グループで育てた経営人材と、上場・売却・再生を実務で経験した役員が経営に入ります。</a:t>
            </a:r>
            <a:endParaRPr lang="en-US" sz="1050" dirty="0"/>
          </a:p>
        </p:txBody>
      </p:sp>
      <p:sp>
        <p:nvSpPr>
          <p:cNvPr id="12" name="ポイント 03"/>
          <p:cNvSpPr/>
          <p:nvPr/>
        </p:nvSpPr>
        <p:spPr>
          <a:xfrm>
            <a:off x="8046720" y="1783080"/>
            <a:ext cx="3584448" cy="1783080"/>
          </a:xfrm>
          <a:prstGeom prst="rect">
            <a:avLst/>
          </a:prstGeom>
          <a:solidFill>
            <a:schemeClr val="bg2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3" name="番号 03"/>
          <p:cNvSpPr txBox="1"/>
          <p:nvPr/>
        </p:nvSpPr>
        <p:spPr>
          <a:xfrm>
            <a:off x="83210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見出し 03"/>
          <p:cNvSpPr txBox="1"/>
          <p:nvPr/>
        </p:nvSpPr>
        <p:spPr>
          <a:xfrm>
            <a:off x="8321040" y="23774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雇用と取引先との関係を大切にします</a:t>
            </a:r>
            <a:endParaRPr lang="en-US" sz="1300" dirty="0"/>
          </a:p>
        </p:txBody>
      </p:sp>
      <p:sp>
        <p:nvSpPr>
          <p:cNvPr id="15" name="本文 03"/>
          <p:cNvSpPr txBox="1"/>
          <p:nvPr/>
        </p:nvSpPr>
        <p:spPr>
          <a:xfrm>
            <a:off x="8321040" y="288036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従業員の雇用と取引先との関係は維持を基本とし、現場の理解を得ながら段階的に事業を伸ばします。</a:t>
            </a:r>
            <a:endParaRPr lang="en-US" sz="1050" dirty="0"/>
          </a:p>
        </p:txBody>
      </p:sp>
      <p:sp>
        <p:nvSpPr>
          <p:cNvPr id="16" name="承継事例"/>
          <p:cNvSpPr/>
          <p:nvPr/>
        </p:nvSpPr>
        <p:spPr>
          <a:xfrm>
            <a:off x="548640" y="3794760"/>
            <a:ext cx="7269480" cy="2331720"/>
          </a:xfrm>
          <a:prstGeom prst="rect">
            <a:avLst/>
          </a:prstGeom>
          <a:solidFill>
            <a:schemeClr val="bg1"/>
          </a:solidFill>
          <a:ln w="6350">
            <a:solidFill>
              <a:srgbClr val="E6DBD0"/>
            </a:solidFill>
            <a:prstDash val="solid"/>
          </a:ln>
        </p:spPr>
      </p:sp>
      <p:sp>
        <p:nvSpPr>
          <p:cNvPr id="17" name="事例見出し"/>
          <p:cNvSpPr txBox="1"/>
          <p:nvPr/>
        </p:nvSpPr>
        <p:spPr>
          <a:xfrm>
            <a:off x="822960" y="4023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承継事例 ｜ 障害福祉・介護予防サービス事業</a:t>
            </a:r>
            <a:endParaRPr lang="en-US" sz="1300" dirty="0"/>
          </a:p>
        </p:txBody>
      </p:sp>
      <p:sp>
        <p:nvSpPr>
          <p:cNvPr id="18" name="事例数字 年商"/>
          <p:cNvSpPr txBox="1"/>
          <p:nvPr/>
        </p:nvSpPr>
        <p:spPr>
          <a:xfrm>
            <a:off x="82296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約3.4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億円</a:t>
            </a:r>
            <a:endParaRPr lang="en-US" sz="1400" dirty="0"/>
          </a:p>
        </p:txBody>
      </p:sp>
      <p:sp>
        <p:nvSpPr>
          <p:cNvPr id="19" name="事例ラベル 年商"/>
          <p:cNvSpPr txBox="1"/>
          <p:nvPr/>
        </p:nvSpPr>
        <p:spPr>
          <a:xfrm>
            <a:off x="822960" y="4892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年商</a:t>
            </a:r>
            <a:endParaRPr lang="en-US" sz="1000" dirty="0"/>
          </a:p>
        </p:txBody>
      </p:sp>
      <p:sp>
        <p:nvSpPr>
          <p:cNvPr id="20" name="事例数字 事業所数"/>
          <p:cNvSpPr txBox="1"/>
          <p:nvPr/>
        </p:nvSpPr>
        <p:spPr>
          <a:xfrm>
            <a:off x="242316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拠点</a:t>
            </a:r>
            <a:endParaRPr lang="en-US" sz="1400" dirty="0"/>
          </a:p>
        </p:txBody>
      </p:sp>
      <p:sp>
        <p:nvSpPr>
          <p:cNvPr id="21" name="事例ラベル 事業所数"/>
          <p:cNvSpPr txBox="1"/>
          <p:nvPr/>
        </p:nvSpPr>
        <p:spPr>
          <a:xfrm>
            <a:off x="2423160" y="4892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事業所数</a:t>
            </a:r>
            <a:endParaRPr lang="en-US" sz="1000" dirty="0"/>
          </a:p>
        </p:txBody>
      </p:sp>
      <p:sp>
        <p:nvSpPr>
          <p:cNvPr id="22" name="事例数字 従業員数"/>
          <p:cNvSpPr txBox="1"/>
          <p:nvPr/>
        </p:nvSpPr>
        <p:spPr>
          <a:xfrm>
            <a:off x="402336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約50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名</a:t>
            </a:r>
            <a:endParaRPr lang="en-US" sz="1400" dirty="0"/>
          </a:p>
        </p:txBody>
      </p:sp>
      <p:sp>
        <p:nvSpPr>
          <p:cNvPr id="23" name="事例ラベル 従業員数"/>
          <p:cNvSpPr txBox="1"/>
          <p:nvPr/>
        </p:nvSpPr>
        <p:spPr>
          <a:xfrm>
            <a:off x="4023360" y="4892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従業員数</a:t>
            </a:r>
            <a:endParaRPr lang="en-US" sz="1000" dirty="0"/>
          </a:p>
        </p:txBody>
      </p:sp>
      <p:sp>
        <p:nvSpPr>
          <p:cNvPr id="24" name="事例本文"/>
          <p:cNvSpPr txBox="1"/>
          <p:nvPr/>
        </p:nvSpPr>
        <p:spPr>
          <a:xfrm>
            <a:off x="822960" y="5257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売り手の「事業の選択と集中」により、当該事業のみを事業譲渡で承継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従業員の雇用と処遇の維持を最重視。許認可の新規取得と契約の承継を完了し、地域の福祉サービスを継続</a:t>
            </a:r>
            <a:endParaRPr lang="en-US" sz="1050" dirty="0"/>
          </a:p>
        </p:txBody>
      </p:sp>
      <p:sp>
        <p:nvSpPr>
          <p:cNvPr id="25" name="窓口カード"/>
          <p:cNvSpPr/>
          <p:nvPr/>
        </p:nvSpPr>
        <p:spPr>
          <a:xfrm>
            <a:off x="8046720" y="3794760"/>
            <a:ext cx="3593592" cy="23317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70403"/>
            </a:solidFill>
            <a:prstDash val="solid"/>
          </a:ln>
        </p:spPr>
      </p:sp>
      <p:sp>
        <p:nvSpPr>
          <p:cNvPr id="26" name="窓口ラベル"/>
          <p:cNvSpPr txBox="1"/>
          <p:nvPr/>
        </p:nvSpPr>
        <p:spPr>
          <a:xfrm>
            <a:off x="832104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</a:rPr>
              <a:t>CONTACT</a:t>
            </a:r>
            <a:endParaRPr lang="en-US" sz="1000" dirty="0"/>
          </a:p>
        </p:txBody>
      </p:sp>
      <p:sp>
        <p:nvSpPr>
          <p:cNvPr id="27" name="窓口見出し"/>
          <p:cNvSpPr txBox="1"/>
          <p:nvPr/>
        </p:nvSpPr>
        <p:spPr>
          <a:xfrm>
            <a:off x="832104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案件のご提案・ご相談</a:t>
            </a:r>
            <a:endParaRPr lang="en-US" sz="1500" dirty="0"/>
          </a:p>
        </p:txBody>
      </p:sp>
      <p:sp>
        <p:nvSpPr>
          <p:cNvPr id="28" name="メール"/>
          <p:cNvSpPr txBox="1"/>
          <p:nvPr/>
        </p:nvSpPr>
        <p:spPr>
          <a:xfrm>
            <a:off x="832104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sourcing@teamenergy.co.jp</a:t>
            </a:r>
            <a:endParaRPr lang="en-US" sz="1300" dirty="0"/>
          </a:p>
        </p:txBody>
      </p:sp>
      <p:sp>
        <p:nvSpPr>
          <p:cNvPr id="29" name="窓口説明"/>
          <p:cNvSpPr txBox="1"/>
          <p:nvPr/>
        </p:nvSpPr>
        <p:spPr>
          <a:xfrm>
            <a:off x="8321040" y="51663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案件窓口：友井 大勢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仲介会社・金融機関・オーナー経営者の皆さまからお受けしています。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COMPANY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会社概要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5" name="項目 会社名"/>
          <p:cNvSpPr txBox="1"/>
          <p:nvPr/>
        </p:nvSpPr>
        <p:spPr>
          <a:xfrm>
            <a:off x="548640" y="1956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会社名</a:t>
            </a:r>
            <a:endParaRPr lang="en-US" sz="1200" dirty="0"/>
          </a:p>
        </p:txBody>
      </p:sp>
      <p:sp>
        <p:nvSpPr>
          <p:cNvPr id="6" name="内容 会社名"/>
          <p:cNvSpPr txBox="1"/>
          <p:nvPr/>
        </p:nvSpPr>
        <p:spPr>
          <a:xfrm>
            <a:off x="2103120" y="195681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Team Energy株式会社（総称：Team Energy Group）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8" name="項目 設立"/>
          <p:cNvSpPr txBox="1"/>
          <p:nvPr/>
        </p:nvSpPr>
        <p:spPr>
          <a:xfrm>
            <a:off x="548640" y="25237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設立</a:t>
            </a:r>
            <a:endParaRPr lang="en-US" sz="1200" dirty="0"/>
          </a:p>
        </p:txBody>
      </p:sp>
      <p:sp>
        <p:nvSpPr>
          <p:cNvPr id="9" name="内容 設立"/>
          <p:cNvSpPr txBox="1"/>
          <p:nvPr/>
        </p:nvSpPr>
        <p:spPr>
          <a:xfrm>
            <a:off x="2103120" y="25237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2012年5月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1" name="項目 代表者"/>
          <p:cNvSpPr txBox="1"/>
          <p:nvPr/>
        </p:nvSpPr>
        <p:spPr>
          <a:xfrm>
            <a:off x="548640" y="3090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代表者</a:t>
            </a:r>
            <a:endParaRPr lang="en-US" sz="1200" dirty="0"/>
          </a:p>
        </p:txBody>
      </p:sp>
      <p:sp>
        <p:nvSpPr>
          <p:cNvPr id="12" name="内容 代表者"/>
          <p:cNvSpPr txBox="1"/>
          <p:nvPr/>
        </p:nvSpPr>
        <p:spPr>
          <a:xfrm>
            <a:off x="2103120" y="30906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中村 誠司（グループCEO）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4" name="項目 本社"/>
          <p:cNvSpPr txBox="1"/>
          <p:nvPr/>
        </p:nvSpPr>
        <p:spPr>
          <a:xfrm>
            <a:off x="548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本社</a:t>
            </a:r>
            <a:endParaRPr lang="en-US" sz="1200" dirty="0"/>
          </a:p>
        </p:txBody>
      </p:sp>
      <p:sp>
        <p:nvSpPr>
          <p:cNvPr id="15" name="内容 本社"/>
          <p:cNvSpPr txBox="1"/>
          <p:nvPr/>
        </p:nvSpPr>
        <p:spPr>
          <a:xfrm>
            <a:off x="2103120" y="3657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〒530-0011 大阪府大阪市北区大深町6 グラングリーン大阪北館 JAM BASE 9階 916号室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17" name="項目 東京オフィス"/>
          <p:cNvSpPr txBox="1"/>
          <p:nvPr/>
        </p:nvSpPr>
        <p:spPr>
          <a:xfrm>
            <a:off x="54864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東京オフィス</a:t>
            </a:r>
            <a:endParaRPr lang="en-US" sz="1200" dirty="0"/>
          </a:p>
        </p:txBody>
      </p:sp>
      <p:sp>
        <p:nvSpPr>
          <p:cNvPr id="18" name="内容 東京オフィス"/>
          <p:cNvSpPr txBox="1"/>
          <p:nvPr/>
        </p:nvSpPr>
        <p:spPr>
          <a:xfrm>
            <a:off x="2103120" y="42245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〒160-0014 東京都新宿区内藤町1-82 プルニエ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0" name="項目 事業内容"/>
          <p:cNvSpPr txBox="1"/>
          <p:nvPr/>
        </p:nvSpPr>
        <p:spPr>
          <a:xfrm>
            <a:off x="548640" y="47914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事業内容</a:t>
            </a:r>
            <a:endParaRPr lang="en-US" sz="1200" dirty="0"/>
          </a:p>
        </p:txBody>
      </p:sp>
      <p:sp>
        <p:nvSpPr>
          <p:cNvPr id="21" name="内容 事業内容"/>
          <p:cNvSpPr txBox="1"/>
          <p:nvPr/>
        </p:nvSpPr>
        <p:spPr>
          <a:xfrm>
            <a:off x="2103120" y="479145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事業育成・新規事業創出を軸に、複数事業をグループ各社にて展開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sp>
        <p:nvSpPr>
          <p:cNvPr id="23" name="項目 グループ"/>
          <p:cNvSpPr txBox="1"/>
          <p:nvPr/>
        </p:nvSpPr>
        <p:spPr>
          <a:xfrm>
            <a:off x="548640" y="5358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グループ</a:t>
            </a:r>
            <a:endParaRPr lang="en-US" sz="1200" dirty="0"/>
          </a:p>
        </p:txBody>
      </p:sp>
      <p:sp>
        <p:nvSpPr>
          <p:cNvPr id="24" name="内容 グループ"/>
          <p:cNvSpPr txBox="1"/>
          <p:nvPr/>
        </p:nvSpPr>
        <p:spPr>
          <a:xfrm>
            <a:off x="2103120" y="53583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6つの事業領域（GI／Geo／AI総研／GLI／Growth／AM）、18社の事業会社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797296"/>
            <a:ext cx="7315200" cy="0"/>
          </a:xfrm>
          <a:prstGeom prst="line">
            <a:avLst/>
          </a:prstGeom>
          <a:noFill/>
          <a:ln w="9525">
            <a:solidFill>
              <a:srgbClr val="E6DBD0"/>
            </a:solidFill>
            <a:prstDash val="solid"/>
          </a:ln>
        </p:spPr>
      </p:sp>
      <p:pic>
        <p:nvPicPr>
          <p:cNvPr id="26" name="Team Energy ロゴ" descr="/tmp/claude-0/-home-user-desktop-tutorial/da594ce8-4d76-57ae-96d9-d86383369921/scratchpad/deck/img/t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103120"/>
            <a:ext cx="2651760" cy="15041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8C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 Energy ロゴ" descr="/tmp/claude-0/-home-user-desktop-tutorial/da594ce8-4d76-57ae-96d9-d86383369921/scratchpad/deck/img/t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09344" cy="914400"/>
          </a:xfrm>
          <a:prstGeom prst="rect">
            <a:avLst/>
          </a:prstGeom>
        </p:spPr>
      </p:pic>
      <p:sp>
        <p:nvSpPr>
          <p:cNvPr id="3" name="締めのコピー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100億企業を10社。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その先に、ユニコーン3社を。</a:t>
            </a:r>
            <a:endParaRPr lang="en-US" sz="3600" dirty="0"/>
          </a:p>
        </p:txBody>
      </p:sp>
      <p:sp>
        <p:nvSpPr>
          <p:cNvPr id="4" name="社名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Team Energy株式会社</a:t>
            </a:r>
            <a:endParaRPr lang="en-US" sz="1600" dirty="0"/>
          </a:p>
        </p:txBody>
      </p:sp>
      <p:sp>
        <p:nvSpPr>
          <p:cNvPr id="5" name="連絡先"/>
          <p:cNvSpPr txBox="1"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alpha val="80000"/>
                  </a:schemeClr>
                </a:solidFill>
              </a:rPr>
              <a:t>〒530-0011 大阪府大阪市北区大深町6 グラングリーン大阪北館 JAM BASE 9階 916号室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alpha val="80000"/>
                  </a:schemeClr>
                </a:solidFill>
              </a:rPr>
              <a:t>M&amp;A・事業承継に関するお問い合わせ：sourcing@teamenergy.co.jp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 Energy">
  <a:themeElements>
    <a:clrScheme name="Team Energy">
      <a:dk1>
        <a:srgbClr val="1A1412"/>
      </a:dk1>
      <a:lt1>
        <a:srgbClr val="FFFFFF"/>
      </a:lt1>
      <a:dk2>
        <a:srgbClr val="5C4F48"/>
      </a:dk2>
      <a:lt2>
        <a:srgbClr val="F5EFE8"/>
      </a:lt2>
      <a:accent1>
        <a:srgbClr val="D2461C"/>
      </a:accent1>
      <a:accent2>
        <a:srgbClr val="9E2F10"/>
      </a:accent2>
      <a:accent3>
        <a:srgbClr val="F0A35C"/>
      </a:accent3>
      <a:accent4>
        <a:srgbClr val="9C8C82"/>
      </a:accent4>
      <a:accent5>
        <a:srgbClr val="E6DBD0"/>
      </a:accent5>
      <a:accent6>
        <a:srgbClr val="070403"/>
      </a:accent6>
      <a:hlink>
        <a:srgbClr val="D2461C"/>
      </a:hlink>
      <a:folHlink>
        <a:srgbClr val="9E2F10"/>
      </a:folHlink>
    </a:clrScheme>
    <a:fontScheme name="Team Energy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Energy 会社紹介資料</dc:title>
  <dc:subject>PptxGenJS Presentation</dc:subject>
  <dc:creator>Team Energy株式会社</dc:creator>
  <cp:lastModifiedBy>Team Energy株式会社</cp:lastModifiedBy>
  <cp:revision>1</cp:revision>
  <dcterms:created xsi:type="dcterms:W3CDTF">2026-10-14T07:41:51Z</dcterms:created>
  <dcterms:modified xsi:type="dcterms:W3CDTF">2026-10-14T07:41:51Z</dcterms:modified>
</cp:coreProperties>
</file>